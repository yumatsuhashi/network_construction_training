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45"/>
  </p:notesMasterIdLst>
  <p:handoutMasterIdLst>
    <p:handoutMasterId r:id="rId46"/>
  </p:handoutMasterIdLst>
  <p:sldIdLst>
    <p:sldId id="256" r:id="rId5"/>
    <p:sldId id="933" r:id="rId6"/>
    <p:sldId id="934" r:id="rId7"/>
    <p:sldId id="907" r:id="rId8"/>
    <p:sldId id="935" r:id="rId9"/>
    <p:sldId id="936" r:id="rId10"/>
    <p:sldId id="937" r:id="rId11"/>
    <p:sldId id="908" r:id="rId12"/>
    <p:sldId id="894" r:id="rId13"/>
    <p:sldId id="895" r:id="rId14"/>
    <p:sldId id="909" r:id="rId15"/>
    <p:sldId id="896" r:id="rId16"/>
    <p:sldId id="910" r:id="rId17"/>
    <p:sldId id="900" r:id="rId18"/>
    <p:sldId id="911" r:id="rId19"/>
    <p:sldId id="901" r:id="rId20"/>
    <p:sldId id="912" r:id="rId21"/>
    <p:sldId id="897" r:id="rId22"/>
    <p:sldId id="913" r:id="rId23"/>
    <p:sldId id="898" r:id="rId24"/>
    <p:sldId id="914" r:id="rId25"/>
    <p:sldId id="915" r:id="rId26"/>
    <p:sldId id="916" r:id="rId27"/>
    <p:sldId id="917" r:id="rId28"/>
    <p:sldId id="902" r:id="rId29"/>
    <p:sldId id="918" r:id="rId30"/>
    <p:sldId id="919" r:id="rId31"/>
    <p:sldId id="920" r:id="rId32"/>
    <p:sldId id="921" r:id="rId33"/>
    <p:sldId id="922" r:id="rId34"/>
    <p:sldId id="923" r:id="rId35"/>
    <p:sldId id="924" r:id="rId36"/>
    <p:sldId id="925" r:id="rId37"/>
    <p:sldId id="926" r:id="rId38"/>
    <p:sldId id="927" r:id="rId39"/>
    <p:sldId id="928" r:id="rId40"/>
    <p:sldId id="929" r:id="rId41"/>
    <p:sldId id="930" r:id="rId42"/>
    <p:sldId id="931" r:id="rId43"/>
    <p:sldId id="932" r:id="rId44"/>
  </p:sldIdLst>
  <p:sldSz cx="9144000" cy="6858000" type="screen4x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0CC"/>
    <a:srgbClr val="9C5107"/>
    <a:srgbClr val="E94B22"/>
    <a:srgbClr val="231815"/>
    <a:srgbClr val="77777A"/>
    <a:srgbClr val="8E9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06946-5708-4260-8EEB-AF005C33D204}" v="100" dt="2025-07-25T07:47:47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9400" autoAdjust="0"/>
  </p:normalViewPr>
  <p:slideViewPr>
    <p:cSldViewPr snapToGrid="0" showGuides="1">
      <p:cViewPr varScale="1">
        <p:scale>
          <a:sx n="51" d="100"/>
          <a:sy n="51" d="100"/>
        </p:scale>
        <p:origin x="174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3152633" cy="3720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Trainocate Japan, Ltd. All rights reserved.</a:t>
            </a:r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E3F4-D6C1-42CE-B7F2-9A265D85E6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56106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AD7F6-9964-4DAA-8A54-CC9BAF578782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en-US" altLang="ja-JP" dirty="0" err="1"/>
              <a:t>Trainocate</a:t>
            </a:r>
            <a:r>
              <a:rPr kumimoji="1" lang="en-US" altLang="ja-JP" dirty="0"/>
              <a:t> Japan, Ltd. All rights reserved.</a:t>
            </a:r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6F91337-1A71-41A4-B53C-8475F782A3F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530274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82" y="3547106"/>
            <a:ext cx="7708777" cy="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" y="6113690"/>
            <a:ext cx="2693886" cy="49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6" y="4855685"/>
            <a:ext cx="2954215" cy="200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Rectangle 8"/>
          <p:cNvSpPr>
            <a:spLocks noGrp="1" noChangeArrowheads="1"/>
          </p:cNvSpPr>
          <p:nvPr>
            <p:ph type="ctrTitle"/>
          </p:nvPr>
        </p:nvSpPr>
        <p:spPr bwMode="black">
          <a:xfrm>
            <a:off x="989944" y="3002262"/>
            <a:ext cx="7181850" cy="535531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 anchorCtr="0">
            <a:spAutoFit/>
          </a:bodyPr>
          <a:lstStyle>
            <a:lvl1pPr algn="ctr"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 dirty="0"/>
              <a:t>マスター タイトルの書式設定</a:t>
            </a:r>
            <a:endParaRPr lang="en-US" altLang="ja-JP" noProof="0" dirty="0"/>
          </a:p>
        </p:txBody>
      </p:sp>
      <p:sp>
        <p:nvSpPr>
          <p:cNvPr id="14" name="コンテンツ プレースホルダー 2"/>
          <p:cNvSpPr>
            <a:spLocks noGrp="1"/>
          </p:cNvSpPr>
          <p:nvPr>
            <p:ph idx="1"/>
          </p:nvPr>
        </p:nvSpPr>
        <p:spPr bwMode="black">
          <a:xfrm>
            <a:off x="2862630" y="5856841"/>
            <a:ext cx="3419231" cy="6387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コンテンツ プレースホルダー 2"/>
          <p:cNvSpPr>
            <a:spLocks noGrp="1"/>
          </p:cNvSpPr>
          <p:nvPr>
            <p:ph idx="10"/>
          </p:nvPr>
        </p:nvSpPr>
        <p:spPr bwMode="black">
          <a:xfrm>
            <a:off x="250538" y="925376"/>
            <a:ext cx="5224182" cy="6387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4220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リッジ 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83" y="3547108"/>
            <a:ext cx="7708777" cy="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5" y="142883"/>
            <a:ext cx="2693886" cy="49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Rectangle 8"/>
          <p:cNvSpPr>
            <a:spLocks noGrp="1" noChangeArrowheads="1"/>
          </p:cNvSpPr>
          <p:nvPr>
            <p:ph type="ctrTitle"/>
          </p:nvPr>
        </p:nvSpPr>
        <p:spPr bwMode="black">
          <a:xfrm>
            <a:off x="989944" y="3002263"/>
            <a:ext cx="7181850" cy="535531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 anchorCtr="0">
            <a:spAutoFit/>
          </a:bodyPr>
          <a:lstStyle>
            <a:lvl1pPr algn="ctr"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 dirty="0"/>
              <a:t>マスター タイトルの書式設定</a:t>
            </a:r>
            <a:endParaRPr lang="en-US" altLang="ja-JP" noProof="0" dirty="0"/>
          </a:p>
        </p:txBody>
      </p:sp>
    </p:spTree>
    <p:extLst>
      <p:ext uri="{BB962C8B-B14F-4D97-AF65-F5344CB8AC3E}">
        <p14:creationId xmlns:p14="http://schemas.microsoft.com/office/powerpoint/2010/main" val="59980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5600" y="72000"/>
            <a:ext cx="8640000" cy="4320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ja-JP"/>
              <a:t>Trainocate Japan, Ltd. All rights reserved.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6BB8D49-91AB-4BE8-B7F4-8EAFE2BF815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5"/>
          </p:nvPr>
        </p:nvSpPr>
        <p:spPr>
          <a:xfrm>
            <a:off x="255600" y="612000"/>
            <a:ext cx="8640000" cy="5940000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4785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255600" y="72000"/>
            <a:ext cx="8640000" cy="432000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2" name="フッター プレースホルダー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Trainocate Japan, Ltd. All rights reserved.</a:t>
            </a:r>
            <a:endParaRPr lang="en-US" altLang="ja-JP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BB8D49-91AB-4BE8-B7F4-8EAFE2BF815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742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5600" y="72000"/>
            <a:ext cx="8640000" cy="4320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/>
          </p:nvPr>
        </p:nvSpPr>
        <p:spPr>
          <a:xfrm>
            <a:off x="255588" y="611999"/>
            <a:ext cx="4284000" cy="5940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4604658" y="611999"/>
            <a:ext cx="4284000" cy="594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ja-JP"/>
              <a:t>Trainocate Japan, Ltd. All rights reserved.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6BB8D49-91AB-4BE8-B7F4-8EAFE2BF815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344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クロージング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4FD0E01-BE5E-4FE6-A7AA-3112865EAD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876" y="2760424"/>
            <a:ext cx="5405810" cy="983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1D67071-D019-4BCB-A3BA-A04675219EEB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black">
          <a:xfrm>
            <a:off x="612000" y="6341175"/>
            <a:ext cx="7920000" cy="369332"/>
          </a:xfrm>
          <a:prstGeom prst="rect">
            <a:avLst/>
          </a:prstGeom>
        </p:spPr>
        <p:txBody>
          <a:bodyPr wrap="square" anchor="t" anchorCtr="1">
            <a:spAutoFit/>
          </a:bodyPr>
          <a:lstStyle>
            <a:lvl1pPr marL="0" indent="0" algn="ctr">
              <a:buNone/>
              <a:defRPr sz="1800" b="0">
                <a:solidFill>
                  <a:srgbClr val="77777A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連絡先を入力</a:t>
            </a:r>
            <a:endParaRPr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5605E7F-86AD-4836-9AD2-8352A380C5E7}"/>
              </a:ext>
            </a:extLst>
          </p:cNvPr>
          <p:cNvSpPr txBox="1"/>
          <p:nvPr userDrawn="1"/>
        </p:nvSpPr>
        <p:spPr>
          <a:xfrm>
            <a:off x="612000" y="5446955"/>
            <a:ext cx="79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b="0" dirty="0">
                <a:solidFill>
                  <a:srgbClr val="77777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本資料についてのお問い合わせ先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58BACD-4932-4D31-BA3E-1291D1CD2FB5}"/>
              </a:ext>
            </a:extLst>
          </p:cNvPr>
          <p:cNvSpPr txBox="1"/>
          <p:nvPr userDrawn="1"/>
        </p:nvSpPr>
        <p:spPr>
          <a:xfrm>
            <a:off x="612000" y="5971842"/>
            <a:ext cx="79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b="0" dirty="0">
                <a:solidFill>
                  <a:srgbClr val="77777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トレノケート株式会社</a:t>
            </a:r>
          </a:p>
        </p:txBody>
      </p:sp>
    </p:spTree>
    <p:extLst>
      <p:ext uri="{BB962C8B-B14F-4D97-AF65-F5344CB8AC3E}">
        <p14:creationId xmlns:p14="http://schemas.microsoft.com/office/powerpoint/2010/main" val="3215962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9945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914400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52204"/>
            <a:ext cx="91440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255600" y="72000"/>
            <a:ext cx="864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72000" y="6660000"/>
            <a:ext cx="3600000" cy="180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 b="1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Trainocate Japan,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7981950" y="6660000"/>
            <a:ext cx="1080000" cy="180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46BB8D49-91AB-4BE8-B7F4-8EAFE2BF815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255600" y="611999"/>
            <a:ext cx="8640000" cy="59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655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75" r:id="rId3"/>
    <p:sldLayoutId id="2147483661" r:id="rId4"/>
    <p:sldLayoutId id="2147483674" r:id="rId5"/>
    <p:sldLayoutId id="2147483677" r:id="rId6"/>
    <p:sldLayoutId id="214748367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b="1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357188" marR="0" indent="-357188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Tx/>
        <a:buFont typeface="Wingdings" panose="05000000000000000000" pitchFamily="2" charset="2"/>
        <a:buChar char="n"/>
        <a:tabLst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742950" marR="0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Tx/>
        <a:buFont typeface="Wingdings" panose="05000000000000000000" pitchFamily="2" charset="2"/>
        <a:buChar char="l"/>
        <a:tabLst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Tx/>
        <a:buFont typeface="HGPｺﾞｼｯｸE" panose="020B0900000000000000" pitchFamily="50" charset="-128"/>
        <a:buChar char="-"/>
        <a:tabLst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Tx/>
        <a:buFontTx/>
        <a:buChar char="•"/>
        <a:tabLst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prstClr val="black"/>
        </a:buClr>
        <a:buSzTx/>
        <a:buFont typeface="Wingdings" panose="05000000000000000000" pitchFamily="2" charset="2"/>
        <a:buNone/>
        <a:tabLst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58" userDrawn="1">
          <p15:clr>
            <a:srgbClr val="F26B43"/>
          </p15:clr>
        </p15:guide>
        <p15:guide id="4" pos="56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4CC300C1-62D6-4EB2-A5F8-5B892EC3D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944" y="3002262"/>
            <a:ext cx="7181850" cy="535531"/>
          </a:xfrm>
        </p:spPr>
        <p:txBody>
          <a:bodyPr/>
          <a:lstStyle/>
          <a:p>
            <a:r>
              <a:rPr lang="ja-JP" altLang="en-US" dirty="0"/>
              <a:t>③ネットワークの構築</a:t>
            </a: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21B01A-FC07-4679-A5A5-320BA1F8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308045-BEB8-4956-9F58-05BE63597E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365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42DF-C31C-B2BF-3EE6-7AFB10D8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78151-6CED-41BE-5784-C9E5D6F7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監視サーバー（</a:t>
            </a:r>
            <a:r>
              <a:rPr kumimoji="1" lang="en-US" altLang="ja-JP" dirty="0"/>
              <a:t>Linux</a:t>
            </a:r>
            <a:r>
              <a:rPr kumimoji="1" lang="ja-JP" altLang="en-US" dirty="0"/>
              <a:t>）の操作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275C28-666F-48FA-4420-B50741E7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ja-JP" altLang="en-US" kern="0" dirty="0"/>
              <a:t>監視サーバー用</a:t>
            </a:r>
            <a:r>
              <a:rPr lang="en-US" altLang="ja-JP" kern="0" dirty="0"/>
              <a:t>PC</a:t>
            </a:r>
            <a:r>
              <a:rPr lang="ja-JP" altLang="en-US" kern="0" dirty="0"/>
              <a:t>の電源を入れ、</a:t>
            </a:r>
            <a:r>
              <a:rPr lang="en-US" altLang="ja-JP" kern="0" dirty="0">
                <a:solidFill>
                  <a:srgbClr val="0070C0"/>
                </a:solidFill>
              </a:rPr>
              <a:t>Pa$$w0rd</a:t>
            </a:r>
            <a:r>
              <a:rPr lang="en-US" altLang="ja-JP" kern="0" dirty="0"/>
              <a:t> </a:t>
            </a:r>
            <a:r>
              <a:rPr lang="ja-JP" altLang="en-US" kern="0" dirty="0"/>
              <a:t>で</a:t>
            </a:r>
            <a:r>
              <a:rPr lang="en-US" altLang="ja-JP" kern="0" dirty="0"/>
              <a:t>Windows</a:t>
            </a:r>
            <a:r>
              <a:rPr lang="ja-JP" altLang="en-US" kern="0" dirty="0"/>
              <a:t>にサインインする</a:t>
            </a:r>
            <a:endParaRPr lang="en-US" altLang="ja-JP" kern="0" dirty="0"/>
          </a:p>
          <a:p>
            <a:pPr marL="514350" indent="-514350">
              <a:buFont typeface="+mj-lt"/>
              <a:buAutoNum type="arabicPeriod"/>
            </a:pPr>
            <a:endParaRPr kumimoji="1" lang="en-US" altLang="ja-JP" kern="0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kern="0" dirty="0"/>
              <a:t>[Hyper-V</a:t>
            </a:r>
            <a:r>
              <a:rPr lang="ja-JP" altLang="en-US" kern="0" dirty="0"/>
              <a:t>マネージャー</a:t>
            </a:r>
            <a:r>
              <a:rPr lang="en-US" altLang="ja-JP" kern="0" dirty="0"/>
              <a:t>]</a:t>
            </a:r>
            <a:r>
              <a:rPr lang="ja-JP" altLang="en-US" kern="0" dirty="0"/>
              <a:t>を起動し、中央にある </a:t>
            </a:r>
            <a:r>
              <a:rPr lang="en-US" altLang="ja-JP" kern="0" dirty="0"/>
              <a:t>Linux </a:t>
            </a:r>
            <a:r>
              <a:rPr lang="ja-JP" altLang="en-US" kern="0" dirty="0"/>
              <a:t>を起動し接続する</a:t>
            </a:r>
            <a:endParaRPr lang="en-US" altLang="ja-JP" kern="0" dirty="0"/>
          </a:p>
          <a:p>
            <a:pPr marL="900112" lvl="1" indent="-514350"/>
            <a:r>
              <a:rPr kumimoji="1" lang="en-US" altLang="ja-JP" kern="0" dirty="0"/>
              <a:t>[</a:t>
            </a:r>
            <a:r>
              <a:rPr kumimoji="1" lang="ja-JP" altLang="en-US" kern="0" dirty="0"/>
              <a:t>接続</a:t>
            </a:r>
            <a:r>
              <a:rPr kumimoji="1" lang="en-US" altLang="ja-JP" kern="0" dirty="0"/>
              <a:t>]</a:t>
            </a:r>
            <a:r>
              <a:rPr kumimoji="1" lang="ja-JP" altLang="en-US" kern="0" dirty="0"/>
              <a:t>により、</a:t>
            </a:r>
            <a:r>
              <a:rPr kumimoji="1" lang="en-US" altLang="ja-JP" kern="0" dirty="0"/>
              <a:t>Linux</a:t>
            </a:r>
            <a:r>
              <a:rPr kumimoji="1" lang="ja-JP" altLang="en-US" kern="0" dirty="0"/>
              <a:t>のウィンドウが起動する</a:t>
            </a:r>
            <a:endParaRPr kumimoji="1" lang="en-US" altLang="ja-JP" kern="0" dirty="0"/>
          </a:p>
          <a:p>
            <a:pPr marL="900112" lvl="1" indent="-514350"/>
            <a:endParaRPr kumimoji="1" lang="en-US" altLang="ja-JP" kern="0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Linux</a:t>
            </a:r>
            <a:r>
              <a:rPr kumimoji="1" lang="ja-JP" altLang="en-US" dirty="0"/>
              <a:t>に </a:t>
            </a:r>
            <a:r>
              <a:rPr kumimoji="1" lang="en-US" altLang="ja-JP" dirty="0">
                <a:solidFill>
                  <a:srgbClr val="0070C0"/>
                </a:solidFill>
              </a:rPr>
              <a:t>root / Pa$$w0rd</a:t>
            </a:r>
            <a:r>
              <a:rPr kumimoji="1" lang="en-US" altLang="ja-JP" dirty="0"/>
              <a:t> </a:t>
            </a:r>
            <a:r>
              <a:rPr kumimoji="1" lang="ja-JP" altLang="en-US" dirty="0"/>
              <a:t>でログインする</a:t>
            </a:r>
            <a:endParaRPr kumimoji="1" lang="en-US" altLang="ja-JP" dirty="0"/>
          </a:p>
          <a:p>
            <a:pPr marL="900112" lvl="1" indent="-514350"/>
            <a:r>
              <a:rPr lang="ja-JP" altLang="en-US" dirty="0"/>
              <a:t>ログイン画面が表示されていなかったら</a:t>
            </a:r>
            <a:r>
              <a:rPr lang="en-US" altLang="ja-JP" dirty="0"/>
              <a:t>Enter</a:t>
            </a:r>
            <a:r>
              <a:rPr lang="ja-JP" altLang="en-US" dirty="0"/>
              <a:t>キーを入力する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DB1730-EF41-A791-B145-7670529AD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7135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5F98-1BE8-9B64-AF1F-CAA7DAF3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4B736-437E-B9E4-1B52-6C10054A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54739"/>
            <a:ext cx="8640000" cy="432000"/>
          </a:xfrm>
        </p:spPr>
        <p:txBody>
          <a:bodyPr/>
          <a:lstStyle/>
          <a:p>
            <a:r>
              <a:rPr kumimoji="1" lang="ja-JP" altLang="en-US" dirty="0"/>
              <a:t>監視サーバー（</a:t>
            </a:r>
            <a:r>
              <a:rPr kumimoji="1" lang="en-US" altLang="ja-JP" dirty="0"/>
              <a:t>Linux</a:t>
            </a:r>
            <a:r>
              <a:rPr kumimoji="1" lang="ja-JP" altLang="en-US" dirty="0"/>
              <a:t>）の操作　（続き）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BD3A76-B425-68DB-62E8-6D9105452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altLang="ja-JP" kern="0" dirty="0"/>
              <a:t>Linux</a:t>
            </a:r>
            <a:r>
              <a:rPr lang="ja-JP" altLang="en-US" kern="0" dirty="0"/>
              <a:t>のデスクトップで右クリックし、</a:t>
            </a:r>
            <a:r>
              <a:rPr lang="en-US" altLang="ja-JP" kern="0" dirty="0"/>
              <a:t>[</a:t>
            </a:r>
            <a:r>
              <a:rPr lang="ja-JP" altLang="en-US" kern="0" dirty="0"/>
              <a:t>端末を開く</a:t>
            </a:r>
            <a:r>
              <a:rPr lang="en-US" altLang="ja-JP" kern="0" dirty="0"/>
              <a:t>]</a:t>
            </a:r>
            <a:r>
              <a:rPr lang="ja-JP" altLang="en-US" kern="0" dirty="0"/>
              <a:t>を選択する</a:t>
            </a:r>
            <a:endParaRPr lang="en-US" altLang="ja-JP" kern="0" dirty="0"/>
          </a:p>
          <a:p>
            <a:pPr marL="514350" indent="-514350">
              <a:buFont typeface="+mj-lt"/>
              <a:buAutoNum type="arabicPeriod" startAt="4"/>
            </a:pPr>
            <a:endParaRPr kumimoji="1" lang="en-US" altLang="ja-JP" kern="0" dirty="0"/>
          </a:p>
          <a:p>
            <a:pPr marL="514350" indent="-514350">
              <a:buFont typeface="+mj-lt"/>
              <a:buAutoNum type="arabicPeriod" startAt="4"/>
            </a:pPr>
            <a:r>
              <a:rPr lang="ja-JP" altLang="en-US" kern="0" dirty="0"/>
              <a:t>端末が開いたら、下記</a:t>
            </a:r>
            <a:r>
              <a:rPr lang="en-US" altLang="ja-JP" kern="0" dirty="0"/>
              <a:t>2</a:t>
            </a:r>
            <a:r>
              <a:rPr lang="ja-JP" altLang="en-US" kern="0" dirty="0"/>
              <a:t>つのコマンドを入力する</a:t>
            </a:r>
            <a:endParaRPr lang="en-US" altLang="ja-JP" kern="0" dirty="0"/>
          </a:p>
          <a:p>
            <a:pPr marL="900112" lvl="1" indent="-514350"/>
            <a:r>
              <a:rPr kumimoji="1" lang="en-US" altLang="ja-JP" kern="0" dirty="0"/>
              <a:t>service network restart</a:t>
            </a:r>
          </a:p>
          <a:p>
            <a:pPr marL="900112" lvl="1" indent="-514350"/>
            <a:r>
              <a:rPr lang="en-US" altLang="ja-JP" kern="0" dirty="0"/>
              <a:t>s</a:t>
            </a:r>
            <a:r>
              <a:rPr kumimoji="1" lang="en-US" altLang="ja-JP" kern="0" dirty="0"/>
              <a:t>ervice </a:t>
            </a:r>
            <a:r>
              <a:rPr kumimoji="1" lang="en-US" altLang="ja-JP" kern="0" dirty="0" err="1"/>
              <a:t>ntpd</a:t>
            </a:r>
            <a:r>
              <a:rPr kumimoji="1" lang="en-US" altLang="ja-JP" kern="0" dirty="0"/>
              <a:t> restart</a:t>
            </a:r>
          </a:p>
          <a:p>
            <a:pPr marL="900112" lvl="1" indent="-514350"/>
            <a:endParaRPr kumimoji="1" lang="en-US" altLang="ja-JP" kern="0" dirty="0"/>
          </a:p>
          <a:p>
            <a:pPr marL="514350" indent="-514350">
              <a:buFont typeface="+mj-lt"/>
              <a:buAutoNum type="arabicPeriod" startAt="4"/>
            </a:pPr>
            <a:r>
              <a:rPr kumimoji="1" lang="ja-JP" altLang="en-US" kern="0" dirty="0"/>
              <a:t>その他、端末では</a:t>
            </a:r>
            <a:r>
              <a:rPr kumimoji="1" lang="en-US" altLang="ja-JP" kern="0" dirty="0"/>
              <a:t>ping</a:t>
            </a:r>
            <a:r>
              <a:rPr kumimoji="1" lang="ja-JP" altLang="en-US" kern="0" dirty="0"/>
              <a:t>を実行したり、</a:t>
            </a:r>
            <a:r>
              <a:rPr kumimoji="1" lang="en-US" altLang="ja-JP" kern="0" dirty="0" err="1"/>
              <a:t>ifconfig</a:t>
            </a:r>
            <a:r>
              <a:rPr kumimoji="1" lang="ja-JP" altLang="en-US" kern="0" dirty="0"/>
              <a:t>コマンドで</a:t>
            </a:r>
            <a:r>
              <a:rPr kumimoji="1" lang="en-US" altLang="ja-JP" kern="0" dirty="0"/>
              <a:t>IP</a:t>
            </a:r>
            <a:r>
              <a:rPr kumimoji="1" lang="ja-JP" altLang="en-US" kern="0" dirty="0"/>
              <a:t>アドレスを確認したりできる</a:t>
            </a:r>
            <a:endParaRPr kumimoji="1" lang="en-US" altLang="ja-JP" kern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FDA9D8-1D4C-1F98-6DE4-3556840BA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</a:t>
            </a:fld>
            <a:endParaRPr lang="en-US" altLang="ja-JP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BC0424C-16DD-1ED1-00C3-D08050C1CD84}"/>
              </a:ext>
            </a:extLst>
          </p:cNvPr>
          <p:cNvSpPr/>
          <p:nvPr/>
        </p:nvSpPr>
        <p:spPr>
          <a:xfrm>
            <a:off x="926926" y="5106282"/>
            <a:ext cx="7290148" cy="1264979"/>
          </a:xfrm>
          <a:prstGeom prst="roundRect">
            <a:avLst/>
          </a:prstGeom>
          <a:solidFill>
            <a:srgbClr val="FFFF00"/>
          </a:solidFill>
          <a:ln w="12700">
            <a:solidFill>
              <a:srgbClr val="7777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その日の終了時、</a:t>
            </a:r>
            <a:r>
              <a:rPr kumimoji="1" lang="en-US" altLang="ja-JP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Linux</a:t>
            </a:r>
            <a:r>
              <a:rPr kumimoji="1" lang="ja-JP" altLang="en-US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は起動したまま、</a:t>
            </a:r>
            <a:r>
              <a:rPr kumimoji="1" lang="en-US" altLang="ja-JP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</a:t>
            </a:r>
            <a:r>
              <a:rPr kumimoji="1" lang="ja-JP" altLang="en-US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をシャットダウンしてよい</a:t>
            </a:r>
          </a:p>
        </p:txBody>
      </p:sp>
    </p:spTree>
    <p:extLst>
      <p:ext uri="{BB962C8B-B14F-4D97-AF65-F5344CB8AC3E}">
        <p14:creationId xmlns:p14="http://schemas.microsoft.com/office/powerpoint/2010/main" val="19096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5CCAC-3762-9DDD-A00F-E85F5ADD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①物理配線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D66266-55E1-F9DD-C572-F76957054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u="sng" kern="0" dirty="0"/>
              <a:t>物理配線</a:t>
            </a:r>
            <a:endParaRPr lang="en-US" altLang="ja-JP" b="1" u="sng" kern="0" dirty="0"/>
          </a:p>
          <a:p>
            <a:pPr lvl="1"/>
            <a:r>
              <a:rPr lang="ja-JP" altLang="en-US" kern="0" dirty="0"/>
              <a:t>物理構成図に従って配線する</a:t>
            </a:r>
            <a:endParaRPr lang="en-US" altLang="ja-JP" kern="0" dirty="0"/>
          </a:p>
          <a:p>
            <a:pPr lvl="1"/>
            <a:r>
              <a:rPr lang="ja-JP" altLang="en-US" kern="0" dirty="0"/>
              <a:t>構成図に従って、全デバイスにホスト名を設定する</a:t>
            </a:r>
            <a:endParaRPr lang="en-US" altLang="ja-JP" kern="0" dirty="0"/>
          </a:p>
          <a:p>
            <a:pPr lvl="2"/>
            <a:r>
              <a:rPr lang="en-US" altLang="ja-JP" kern="0" dirty="0"/>
              <a:t>PC</a:t>
            </a:r>
            <a:r>
              <a:rPr lang="ja-JP" altLang="en-US" kern="0" dirty="0"/>
              <a:t>と監視サーバーは、ホスト名の設定は不要</a:t>
            </a:r>
            <a:endParaRPr lang="en-US" altLang="ja-JP" kern="0" dirty="0"/>
          </a:p>
          <a:p>
            <a:pPr lvl="2"/>
            <a:endParaRPr lang="en-US" altLang="ja-JP" kern="0" dirty="0"/>
          </a:p>
          <a:p>
            <a:pPr lvl="1"/>
            <a:r>
              <a:rPr lang="en-US" altLang="ja-JP" kern="0" dirty="0"/>
              <a:t>show </a:t>
            </a:r>
            <a:r>
              <a:rPr lang="en-US" altLang="ja-JP" kern="0" dirty="0" err="1"/>
              <a:t>cdp</a:t>
            </a:r>
            <a:r>
              <a:rPr lang="en-US" altLang="ja-JP" kern="0" dirty="0"/>
              <a:t> neighbor </a:t>
            </a:r>
            <a:r>
              <a:rPr lang="ja-JP" altLang="en-US" kern="0" dirty="0"/>
              <a:t>コマンドで、配線に誤りがないことを確認する</a:t>
            </a:r>
            <a:endParaRPr lang="en-US" altLang="ja-JP" kern="0" dirty="0"/>
          </a:p>
          <a:p>
            <a:pPr lvl="2"/>
            <a:r>
              <a:rPr kumimoji="1" lang="ja-JP" altLang="en-US" kern="0" dirty="0"/>
              <a:t>ルータのインターフェースは、</a:t>
            </a:r>
            <a:r>
              <a:rPr kumimoji="1" lang="en-US" altLang="ja-JP" kern="0" dirty="0"/>
              <a:t>no shut</a:t>
            </a:r>
            <a:r>
              <a:rPr kumimoji="1" lang="ja-JP" altLang="en-US" kern="0" dirty="0"/>
              <a:t>が必要</a:t>
            </a:r>
            <a:endParaRPr kumimoji="1" lang="en-US" altLang="ja-JP" kern="0" dirty="0"/>
          </a:p>
          <a:p>
            <a:pPr lvl="2"/>
            <a:endParaRPr kumimoji="1" lang="en-US" altLang="ja-JP" kern="0" dirty="0"/>
          </a:p>
          <a:p>
            <a:pPr lvl="1"/>
            <a:r>
              <a:rPr lang="ja-JP" altLang="en-US" kern="0" dirty="0"/>
              <a:t>講師の指示に従って</a:t>
            </a:r>
            <a:r>
              <a:rPr lang="en-US" altLang="ja-JP" kern="0" dirty="0"/>
              <a:t>2</a:t>
            </a:r>
            <a:r>
              <a:rPr lang="ja-JP" altLang="en-US" kern="0" dirty="0"/>
              <a:t>グループがペアとなり、</a:t>
            </a:r>
            <a:r>
              <a:rPr lang="ja-JP" altLang="en-US" kern="0" dirty="0">
                <a:solidFill>
                  <a:srgbClr val="FF0000"/>
                </a:solidFill>
              </a:rPr>
              <a:t>相互チェック</a:t>
            </a:r>
            <a:r>
              <a:rPr lang="ja-JP" altLang="en-US" kern="0" dirty="0"/>
              <a:t>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3AD7F8-0764-6A94-29DF-6730A4283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404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65E7-6C38-9B07-5CA2-16FBE097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4BE63-3706-DD8E-FF45-95621AC5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以降の進め方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3D740D-BD95-995C-4C7A-7F533E043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kern="0" dirty="0"/>
              <a:t>項目②以降は、下記の流れで進める</a:t>
            </a:r>
            <a:endParaRPr lang="en-US" altLang="ja-JP" kern="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kern="0" dirty="0"/>
              <a:t>設定値・設定項目の決定</a:t>
            </a:r>
            <a:endParaRPr lang="en-US" altLang="ja-JP" kern="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kern="0" dirty="0"/>
              <a:t>メモ帳で</a:t>
            </a:r>
            <a:r>
              <a:rPr lang="en-US" altLang="ja-JP" kern="0" dirty="0"/>
              <a:t>config</a:t>
            </a:r>
            <a:r>
              <a:rPr lang="ja-JP" altLang="en-US" kern="0" dirty="0"/>
              <a:t>作成（デバイスごとにファイル作成が推奨）</a:t>
            </a:r>
            <a:endParaRPr lang="en-US" altLang="ja-JP" kern="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kern="0" dirty="0"/>
              <a:t>デバイスへ</a:t>
            </a:r>
            <a:r>
              <a:rPr lang="en-US" altLang="ja-JP" kern="0" dirty="0"/>
              <a:t>config</a:t>
            </a:r>
            <a:r>
              <a:rPr lang="ja-JP" altLang="en-US" kern="0" dirty="0"/>
              <a:t>を投入</a:t>
            </a:r>
            <a:endParaRPr lang="en-US" altLang="ja-JP" kern="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kern="0" dirty="0"/>
              <a:t>確認　</a:t>
            </a:r>
            <a:r>
              <a:rPr lang="en-US" altLang="ja-JP" sz="2000" kern="0" dirty="0">
                <a:solidFill>
                  <a:srgbClr val="0070C0"/>
                </a:solidFill>
              </a:rPr>
              <a:t>※</a:t>
            </a:r>
            <a:r>
              <a:rPr lang="ja-JP" altLang="en-US" sz="2000" kern="0" dirty="0">
                <a:solidFill>
                  <a:srgbClr val="0070C0"/>
                </a:solidFill>
              </a:rPr>
              <a:t>確認内容を④チェックシート</a:t>
            </a:r>
            <a:r>
              <a:rPr lang="en-US" altLang="ja-JP" sz="2000" kern="0" dirty="0">
                <a:solidFill>
                  <a:srgbClr val="0070C0"/>
                </a:solidFill>
              </a:rPr>
              <a:t>.</a:t>
            </a:r>
            <a:r>
              <a:rPr lang="en-US" altLang="ja-JP" sz="2000" kern="0" dirty="0" err="1">
                <a:solidFill>
                  <a:srgbClr val="0070C0"/>
                </a:solidFill>
              </a:rPr>
              <a:t>xls</a:t>
            </a:r>
            <a:r>
              <a:rPr lang="ja-JP" altLang="en-US" sz="2000" kern="0" dirty="0">
                <a:solidFill>
                  <a:srgbClr val="0070C0"/>
                </a:solidFill>
              </a:rPr>
              <a:t>に記入する</a:t>
            </a:r>
            <a:endParaRPr lang="en-US" altLang="ja-JP" sz="2000" kern="0" dirty="0">
              <a:solidFill>
                <a:srgbClr val="0070C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ja-JP" altLang="en-US" kern="0" dirty="0"/>
              <a:t>（講師の指示に従って）相互チェック</a:t>
            </a:r>
            <a:endParaRPr lang="en-US" altLang="ja-JP" sz="2800" kern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DE466C-E2CB-54F7-144D-A88C4FE52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2854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D289-0404-7FE7-5444-5F4ED9FF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B3CE82-B212-9DA0-239F-EC97C66A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相互チェック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69B6C9-BC79-5532-D6A8-BD1FCB4F1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各グループの</a:t>
            </a:r>
            <a:r>
              <a:rPr lang="ja-JP" altLang="en-US" kern="0" dirty="0">
                <a:solidFill>
                  <a:srgbClr val="0070C0"/>
                </a:solidFill>
              </a:rPr>
              <a:t>④チェックシート</a:t>
            </a:r>
            <a:r>
              <a:rPr lang="en-US" altLang="ja-JP" kern="0" dirty="0">
                <a:solidFill>
                  <a:srgbClr val="0070C0"/>
                </a:solidFill>
              </a:rPr>
              <a:t>.</a:t>
            </a:r>
            <a:r>
              <a:rPr lang="en-US" altLang="ja-JP" kern="0" dirty="0" err="1">
                <a:solidFill>
                  <a:srgbClr val="0070C0"/>
                </a:solidFill>
              </a:rPr>
              <a:t>xls</a:t>
            </a:r>
            <a:r>
              <a:rPr kumimoji="1" lang="ja-JP" altLang="en-US" dirty="0"/>
              <a:t>を見比べ、差分があれば、不足しているグループは追記する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両グループのチェック項目がマージされ、同一になる</a:t>
            </a:r>
            <a:endParaRPr kumimoji="1" lang="en-US" altLang="ja-JP" dirty="0"/>
          </a:p>
          <a:p>
            <a:pPr marL="900112" lvl="1" indent="-514350"/>
            <a:r>
              <a:rPr lang="ja-JP" altLang="en-US" dirty="0"/>
              <a:t>確認項目の文章まで同一でなくても、本質が同じであればよい</a:t>
            </a:r>
            <a:endParaRPr lang="en-US" altLang="ja-JP" dirty="0"/>
          </a:p>
          <a:p>
            <a:pPr marL="900112" lvl="1" indent="-514350"/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チェック項目に従って、</a:t>
            </a:r>
            <a:r>
              <a:rPr lang="ja-JP" altLang="en-US" dirty="0">
                <a:solidFill>
                  <a:srgbClr val="FF0000"/>
                </a:solidFill>
              </a:rPr>
              <a:t>相手グループの設定に誤りがないか</a:t>
            </a:r>
            <a:r>
              <a:rPr lang="ja-JP" altLang="en-US" dirty="0"/>
              <a:t>を確認する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25DC72-A05D-FF85-B28E-67627DBD0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2418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1053DC-99A7-5A24-1D14-68DFF0A7B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DA3010-143B-D463-DFE2-CAE05939B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E5231E-739E-D56A-B3FD-9E68B0DCD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1128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80012-A5F8-CF09-F90A-2ADF7AD4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②初期設定、</a:t>
            </a:r>
            <a:r>
              <a:rPr lang="en-US" altLang="ja-JP" dirty="0"/>
              <a:t>L2</a:t>
            </a:r>
            <a:r>
              <a:rPr lang="ja-JP" altLang="en-US" dirty="0"/>
              <a:t>項目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6F7BFB-6D0C-F834-26FE-24C82C286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b="1" u="sng" dirty="0"/>
              <a:t>初期設定</a:t>
            </a:r>
            <a:endParaRPr lang="ja-JP" altLang="ja-JP" dirty="0"/>
          </a:p>
          <a:p>
            <a:pPr marL="400050" lvl="1" indent="0">
              <a:buNone/>
            </a:pPr>
            <a:r>
              <a:rPr lang="ja-JP" altLang="ja-JP" sz="2800" dirty="0"/>
              <a:t>・ホスト名</a:t>
            </a:r>
          </a:p>
          <a:p>
            <a:pPr marL="400050" lvl="1" indent="0">
              <a:buNone/>
            </a:pPr>
            <a:r>
              <a:rPr lang="ja-JP" altLang="ja-JP" sz="2800" dirty="0"/>
              <a:t>・パスワード関連</a:t>
            </a:r>
          </a:p>
          <a:p>
            <a:pPr marL="0" indent="0">
              <a:buNone/>
            </a:pPr>
            <a:endParaRPr lang="ja-JP" altLang="ja-JP" dirty="0"/>
          </a:p>
          <a:p>
            <a:r>
              <a:rPr lang="en-US" altLang="ja-JP" b="1" u="sng" dirty="0"/>
              <a:t>L2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en-US" altLang="ja-JP" sz="2800" dirty="0"/>
              <a:t>L2</a:t>
            </a:r>
            <a:r>
              <a:rPr lang="ja-JP" altLang="en-US" sz="2800" dirty="0"/>
              <a:t>レベルでブロードキャストドメイン分割</a:t>
            </a:r>
            <a:endParaRPr lang="en-US" altLang="ja-JP" sz="2800" dirty="0"/>
          </a:p>
          <a:p>
            <a:pPr marL="400050" lvl="1" indent="0">
              <a:buNone/>
            </a:pPr>
            <a:r>
              <a:rPr lang="ja-JP" altLang="en-US" sz="2800" dirty="0"/>
              <a:t>・不要なトラフィックを</a:t>
            </a:r>
            <a:r>
              <a:rPr lang="en-US" altLang="ja-JP" sz="2800" dirty="0"/>
              <a:t>L2</a:t>
            </a:r>
            <a:r>
              <a:rPr lang="ja-JP" altLang="en-US" sz="2800" dirty="0"/>
              <a:t>リンクに流さない</a:t>
            </a:r>
            <a:endParaRPr lang="ja-JP" altLang="ja-JP" sz="2800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ja-JP" altLang="en-US" sz="2800" dirty="0"/>
              <a:t>物理リンクを最大の帯域で使用（</a:t>
            </a:r>
            <a:r>
              <a:rPr lang="en-US" altLang="ja-JP" sz="2800" dirty="0"/>
              <a:t>L2</a:t>
            </a:r>
            <a:r>
              <a:rPr lang="ja-JP" altLang="en-US" sz="2800" dirty="0"/>
              <a:t>リンク）</a:t>
            </a:r>
            <a:endParaRPr lang="ja-JP" altLang="ja-JP" sz="2800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ja-JP" altLang="en-US" sz="2800" dirty="0"/>
              <a:t>ブロードキャストストームを防ぐ</a:t>
            </a:r>
            <a:endParaRPr lang="ja-JP" altLang="ja-JP" sz="2800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ja-JP" altLang="en-US" sz="2800" dirty="0"/>
              <a:t>ホストポートの収束を早める</a:t>
            </a:r>
            <a:endParaRPr lang="ja-JP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A7D8F8-F11D-1529-8444-6AB052309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95713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②初期設定（設問）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初期設定で必要な項目は？</a:t>
            </a:r>
            <a:endParaRPr kumimoji="1"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5899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lang="en-US" altLang="ja-JP" dirty="0"/>
              <a:t>L2</a:t>
            </a:r>
            <a:r>
              <a:rPr lang="ja-JP" altLang="en-US" dirty="0"/>
              <a:t>項目（設問）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L2</a:t>
            </a:r>
            <a:r>
              <a:rPr lang="ja-JP" altLang="en-US" dirty="0"/>
              <a:t>項目で必要な機能、コマンドは？</a:t>
            </a:r>
            <a:endParaRPr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3404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1DD20-10E4-1598-FDAC-561EC2C4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</a:t>
            </a:r>
            <a:r>
              <a:rPr lang="en-US" altLang="ja-JP" dirty="0"/>
              <a:t>L3</a:t>
            </a:r>
            <a:r>
              <a:rPr lang="ja-JP" altLang="en-US" dirty="0"/>
              <a:t>項目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63FEA3-CDF0-337C-AF0D-A807DD412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L3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ja-JP" altLang="en-US" sz="2800" dirty="0"/>
              <a:t>物理リンクを最大の帯域で使用（</a:t>
            </a:r>
            <a:r>
              <a:rPr lang="en-US" altLang="ja-JP" sz="2800" dirty="0"/>
              <a:t>L3</a:t>
            </a:r>
            <a:r>
              <a:rPr lang="ja-JP" altLang="en-US" sz="2800" dirty="0"/>
              <a:t>リンク）</a:t>
            </a:r>
            <a:endParaRPr lang="ja-JP" altLang="ja-JP" sz="2800" dirty="0"/>
          </a:p>
          <a:p>
            <a:pPr marL="400050" lvl="1" indent="0">
              <a:buNone/>
            </a:pPr>
            <a:r>
              <a:rPr lang="ja-JP" altLang="en-US" sz="2800" dirty="0"/>
              <a:t>・各種インタフェースに</a:t>
            </a:r>
            <a:r>
              <a:rPr lang="en-US" altLang="ja-JP" sz="2800" dirty="0"/>
              <a:t>IP</a:t>
            </a:r>
            <a:r>
              <a:rPr lang="ja-JP" altLang="en-US" sz="2800" dirty="0"/>
              <a:t>アドレス設定（</a:t>
            </a:r>
            <a:r>
              <a:rPr lang="en-US" altLang="ja-JP" sz="2800" dirty="0"/>
              <a:t>ASW</a:t>
            </a:r>
            <a:r>
              <a:rPr lang="ja-JP" altLang="en-US" sz="2800" dirty="0"/>
              <a:t>や</a:t>
            </a:r>
            <a:r>
              <a:rPr lang="en-US" altLang="ja-JP" sz="2800" dirty="0"/>
              <a:t>SVSW</a:t>
            </a:r>
            <a:r>
              <a:rPr lang="ja-JP" altLang="en-US" sz="2800" dirty="0"/>
              <a:t>も忘れずに）</a:t>
            </a:r>
            <a:endParaRPr lang="en-US" altLang="ja-JP" sz="2800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en-US" altLang="ja-JP" sz="2800" dirty="0"/>
              <a:t>IP</a:t>
            </a:r>
            <a:r>
              <a:rPr lang="ja-JP" altLang="en-US" sz="2800" dirty="0"/>
              <a:t>アドレス自動配布</a:t>
            </a:r>
            <a:endParaRPr lang="ja-JP" altLang="ja-JP" sz="2800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en-US" altLang="ja-JP" sz="2800" dirty="0"/>
              <a:t>VLAN</a:t>
            </a:r>
            <a:r>
              <a:rPr lang="ja-JP" altLang="en-US" sz="2800" dirty="0"/>
              <a:t>間ルーティング</a:t>
            </a:r>
            <a:endParaRPr lang="en-US" altLang="ja-JP" sz="2800" dirty="0"/>
          </a:p>
          <a:p>
            <a:pPr marL="400050" lvl="1" indent="0">
              <a:buNone/>
            </a:pPr>
            <a:r>
              <a:rPr lang="ja-JP" altLang="en-US" sz="2800" dirty="0"/>
              <a:t>・デフォルトゲートウェイ冗長化</a:t>
            </a:r>
            <a:endParaRPr lang="en-US" altLang="ja-JP" sz="2800" dirty="0"/>
          </a:p>
          <a:p>
            <a:pPr marL="400050" lvl="1" indent="0">
              <a:buNone/>
            </a:pPr>
            <a:endParaRPr lang="ja-JP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9A0BAA-B3BC-2079-37BE-BF7361D044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7174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</a:t>
            </a:r>
            <a:r>
              <a:rPr lang="en-US" altLang="ja-JP" dirty="0"/>
              <a:t>L3</a:t>
            </a:r>
            <a:r>
              <a:rPr lang="ja-JP" altLang="en-US" dirty="0"/>
              <a:t>項目（設問）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L3</a:t>
            </a:r>
            <a:r>
              <a:rPr lang="ja-JP" altLang="en-US" dirty="0"/>
              <a:t>項目で必要な機能、コマンドは？</a:t>
            </a:r>
            <a:endParaRPr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5316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EA0723-A6B0-6B10-9C03-BC0306D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④</a:t>
            </a:r>
            <a:r>
              <a:rPr lang="en-US" altLang="ja-JP" dirty="0"/>
              <a:t>IGP</a:t>
            </a:r>
            <a:r>
              <a:rPr lang="ja-JP" altLang="en-US" dirty="0"/>
              <a:t>ルーティング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00806C-094F-5191-79FF-B00BFA3B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IGP</a:t>
            </a:r>
            <a:r>
              <a:rPr lang="ja-JP" altLang="en-US" b="1" u="sng" dirty="0"/>
              <a:t>ルーティング</a:t>
            </a:r>
            <a:endParaRPr lang="ja-JP" altLang="ja-JP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en-US" altLang="ja-JP" sz="2800" dirty="0"/>
              <a:t>OSPF</a:t>
            </a:r>
            <a:r>
              <a:rPr lang="ja-JP" altLang="en-US" sz="2800" dirty="0"/>
              <a:t>関連</a:t>
            </a:r>
            <a:endParaRPr lang="ja-JP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0BB61F-8A4C-C459-E73D-5C7D9BEDA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6349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④ルーティング（</a:t>
            </a:r>
            <a:r>
              <a:rPr lang="en-US" altLang="ja-JP" dirty="0"/>
              <a:t>IGP</a:t>
            </a:r>
            <a:r>
              <a:rPr lang="ja-JP" altLang="en-US" dirty="0"/>
              <a:t>）（設問）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OSPF</a:t>
            </a:r>
            <a:r>
              <a:rPr kumimoji="1" lang="ja-JP" altLang="en-US" dirty="0"/>
              <a:t>で必要な機能、コマンドは？</a:t>
            </a:r>
            <a:endParaRPr kumimoji="1"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8654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50241-7DD5-1188-A705-4D9CB425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⑤セキュリティ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15BA0C-FE65-986C-AED5-5CA08551D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セキュリティ</a:t>
            </a:r>
            <a:endParaRPr lang="ja-JP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ja-JP" dirty="0"/>
              <a:t>・</a:t>
            </a:r>
            <a:r>
              <a:rPr lang="ja-JP" altLang="en-US" dirty="0"/>
              <a:t>不正な</a:t>
            </a:r>
            <a:r>
              <a:rPr lang="en-US" altLang="ja-JP" dirty="0"/>
              <a:t>DHCP</a:t>
            </a:r>
            <a:r>
              <a:rPr lang="ja-JP" altLang="en-US" dirty="0"/>
              <a:t>サーバー接続防止</a:t>
            </a:r>
            <a:endParaRPr lang="ja-JP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ja-JP" dirty="0"/>
              <a:t>・</a:t>
            </a:r>
            <a:r>
              <a:rPr lang="ja-JP" altLang="en-US" dirty="0"/>
              <a:t>クライアント</a:t>
            </a:r>
            <a:r>
              <a:rPr lang="en-US" altLang="ja-JP" dirty="0"/>
              <a:t>PC</a:t>
            </a:r>
            <a:r>
              <a:rPr lang="ja-JP" altLang="en-US" dirty="0"/>
              <a:t>を</a:t>
            </a:r>
            <a:r>
              <a:rPr lang="en-US" altLang="ja-JP" dirty="0"/>
              <a:t>MAC</a:t>
            </a:r>
            <a:r>
              <a:rPr lang="ja-JP" altLang="en-US" dirty="0"/>
              <a:t>アドレスで認証</a:t>
            </a:r>
            <a:endParaRPr lang="ja-JP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ja-JP" dirty="0"/>
              <a:t>・</a:t>
            </a:r>
            <a:r>
              <a:rPr lang="ja-JP" altLang="en-US" dirty="0"/>
              <a:t>クライアント側に</a:t>
            </a:r>
            <a:r>
              <a:rPr lang="en-US" altLang="ja-JP" dirty="0"/>
              <a:t>BPDU</a:t>
            </a:r>
            <a:r>
              <a:rPr lang="ja-JP" altLang="en-US" dirty="0"/>
              <a:t>を送信防止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ja-JP" dirty="0"/>
              <a:t>・</a:t>
            </a:r>
            <a:r>
              <a:rPr lang="ja-JP" altLang="en-US" dirty="0"/>
              <a:t>クライアント</a:t>
            </a:r>
            <a:r>
              <a:rPr lang="en-US" altLang="ja-JP" dirty="0"/>
              <a:t>PC</a:t>
            </a:r>
            <a:r>
              <a:rPr lang="ja-JP" altLang="en-US" dirty="0"/>
              <a:t>から任意の宛先に対して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Telnet</a:t>
            </a:r>
            <a:r>
              <a:rPr lang="ja-JP" altLang="en-US" dirty="0"/>
              <a:t>セッションを禁止するように</a:t>
            </a:r>
            <a:r>
              <a:rPr lang="en-US" altLang="ja-JP" dirty="0"/>
              <a:t>DSW</a:t>
            </a:r>
            <a:r>
              <a:rPr lang="ja-JP" altLang="en-US" dirty="0"/>
              <a:t>で制御</a:t>
            </a:r>
            <a:endParaRPr lang="ja-JP" altLang="ja-JP" dirty="0"/>
          </a:p>
          <a:p>
            <a:pPr marL="400050" lvl="1" indent="0">
              <a:buNone/>
            </a:pPr>
            <a:endParaRPr lang="en-US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72481E-C339-790A-F930-910A9C0E3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94146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⑤セキュリティ（設問）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セキュリティ関連で必要な機能、コマンドは？</a:t>
            </a:r>
            <a:endParaRPr kumimoji="1"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25686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E3C88-3344-9A26-B09B-143ED7AE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⑥管理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D6B4F7-B016-3A52-DA92-53247B4D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管理</a:t>
            </a:r>
            <a:endParaRPr lang="en-US" altLang="ja-JP" dirty="0"/>
          </a:p>
          <a:p>
            <a:pPr lvl="2"/>
            <a:r>
              <a:rPr lang="en-US" altLang="ja-JP" sz="2800" dirty="0"/>
              <a:t>NTP</a:t>
            </a:r>
            <a:r>
              <a:rPr lang="ja-JP" altLang="en-US" sz="2800" dirty="0"/>
              <a:t>サーバの指定</a:t>
            </a:r>
            <a:endParaRPr lang="en-US" altLang="ja-JP" sz="2800" dirty="0"/>
          </a:p>
          <a:p>
            <a:pPr lvl="2"/>
            <a:r>
              <a:rPr lang="ja-JP" altLang="en-US" sz="2800" dirty="0"/>
              <a:t>タイムスタンプ</a:t>
            </a:r>
            <a:endParaRPr lang="en-US" altLang="ja-JP" sz="2800" dirty="0"/>
          </a:p>
          <a:p>
            <a:pPr lvl="2"/>
            <a:r>
              <a:rPr lang="en-US" altLang="ja-JP" sz="2800" dirty="0"/>
              <a:t>SNMP</a:t>
            </a:r>
            <a:r>
              <a:rPr lang="ja-JP" altLang="en-US" sz="2800" dirty="0"/>
              <a:t>（コミュニティ、</a:t>
            </a:r>
            <a:r>
              <a:rPr lang="en-US" altLang="ja-JP" sz="2800" dirty="0"/>
              <a:t>Trap</a:t>
            </a:r>
            <a:r>
              <a:rPr lang="ja-JP" altLang="en-US" sz="2800" dirty="0"/>
              <a:t>）</a:t>
            </a:r>
            <a:br>
              <a:rPr lang="en-US" altLang="ja-JP" sz="2800" dirty="0"/>
            </a:br>
            <a:r>
              <a:rPr lang="en-US" altLang="ja-JP" sz="2800" dirty="0"/>
              <a:t>Syslog</a:t>
            </a:r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42DF92-9B56-696D-24E2-F62979A6E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17</a:t>
            </a:fld>
            <a:endParaRPr lang="en-US" altLang="ja-JP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40C2F9-7165-EEF8-A245-FD3E2722780E}"/>
              </a:ext>
            </a:extLst>
          </p:cNvPr>
          <p:cNvSpPr/>
          <p:nvPr/>
        </p:nvSpPr>
        <p:spPr>
          <a:xfrm>
            <a:off x="609600" y="3558313"/>
            <a:ext cx="7924800" cy="17397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7777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SNMP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や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syslog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の情報は、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10.1.100.1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にある監視サーバー（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Linux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）の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/var/log/messages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に蓄積されます。</a:t>
            </a:r>
            <a:endParaRPr kumimoji="1" lang="en-US" altLang="ja-JP" sz="2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sz="2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監視サーバーで端末を起動して、下記などのコマンドで確認できます。</a:t>
            </a:r>
            <a:endParaRPr kumimoji="1" lang="en-US" altLang="ja-JP" sz="2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tail –f /</a:t>
            </a:r>
            <a:r>
              <a:rPr kumimoji="1" lang="en-US" altLang="ja-JP" sz="20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var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/log/messages</a:t>
            </a:r>
          </a:p>
        </p:txBody>
      </p:sp>
    </p:spTree>
    <p:extLst>
      <p:ext uri="{BB962C8B-B14F-4D97-AF65-F5344CB8AC3E}">
        <p14:creationId xmlns:p14="http://schemas.microsoft.com/office/powerpoint/2010/main" val="1099877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⑥管理（設問）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管理機能で必要な機能、コマンドは？</a:t>
            </a:r>
            <a:endParaRPr kumimoji="1"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81651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8CB2E4-AA92-3FC6-1CE3-8540226C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⑦</a:t>
            </a:r>
            <a:r>
              <a:rPr lang="en-US" altLang="ja-JP" dirty="0"/>
              <a:t> EGP</a:t>
            </a:r>
            <a:r>
              <a:rPr lang="ja-JP" altLang="en-US" dirty="0"/>
              <a:t>ルーティング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1682F3-EFC3-33F7-554E-23801263F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EGP</a:t>
            </a:r>
            <a:r>
              <a:rPr lang="ja-JP" altLang="en-US" b="1" u="sng" dirty="0"/>
              <a:t>ルーティング</a:t>
            </a:r>
            <a:endParaRPr lang="ja-JP" altLang="ja-JP" b="1" u="sng" dirty="0"/>
          </a:p>
          <a:p>
            <a:pPr marL="400050" lvl="1" indent="0">
              <a:buNone/>
            </a:pPr>
            <a:r>
              <a:rPr lang="ja-JP" altLang="ja-JP" sz="2800" dirty="0"/>
              <a:t>・</a:t>
            </a:r>
            <a:r>
              <a:rPr lang="en-US" altLang="ja-JP" sz="2800" dirty="0"/>
              <a:t>BGP</a:t>
            </a:r>
            <a:r>
              <a:rPr lang="ja-JP" altLang="en-US" sz="2800" dirty="0"/>
              <a:t>関連</a:t>
            </a:r>
            <a:endParaRPr lang="en-US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880C0E-9501-AB28-2BE1-9414AD2C5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19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68695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⑦</a:t>
            </a:r>
            <a:r>
              <a:rPr lang="en-US" altLang="ja-JP" dirty="0"/>
              <a:t>EGP</a:t>
            </a:r>
            <a:r>
              <a:rPr lang="ja-JP" altLang="en-US" dirty="0"/>
              <a:t>ルーティング（設問）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BGP</a:t>
            </a:r>
            <a:r>
              <a:rPr kumimoji="1" lang="ja-JP" altLang="en-US" dirty="0"/>
              <a:t>で必要な機能、コマンドは？</a:t>
            </a:r>
            <a:endParaRPr kumimoji="1" lang="en-US" altLang="ja-JP" dirty="0"/>
          </a:p>
          <a:p>
            <a:r>
              <a:rPr lang="ja-JP" altLang="en-US" kern="0" dirty="0"/>
              <a:t>確認するコマンドとポイントは？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04277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1382D-84D0-AA0D-408D-6111EC93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tcl</a:t>
            </a:r>
            <a:r>
              <a:rPr lang="ja-JP" altLang="en-US" dirty="0"/>
              <a:t>スクリプトを使用した疎通確認（</a:t>
            </a:r>
            <a:r>
              <a:rPr lang="en-US" altLang="ja-JP" dirty="0"/>
              <a:t>1/4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DA5E01-A3CE-9AD9-6F5C-3C5C8816F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tcl</a:t>
            </a:r>
            <a:r>
              <a:rPr lang="ja-JP" altLang="en-US" dirty="0"/>
              <a:t>スクリプトを使用した効率的な</a:t>
            </a:r>
            <a:r>
              <a:rPr lang="en-US" altLang="ja-JP" dirty="0"/>
              <a:t>ping</a:t>
            </a:r>
            <a:r>
              <a:rPr lang="ja-JP" altLang="en-US" dirty="0"/>
              <a:t>疎通確認</a:t>
            </a:r>
            <a:endParaRPr lang="en-US" altLang="ja-JP" dirty="0"/>
          </a:p>
          <a:p>
            <a:endParaRPr lang="en-US" altLang="ja-JP" kern="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kern="0" dirty="0"/>
              <a:t>テキストファイルを開き、下記を記入する</a:t>
            </a:r>
            <a:endParaRPr lang="en-US" altLang="ja-JP" kern="0" dirty="0"/>
          </a:p>
          <a:p>
            <a:pPr marL="514350" indent="-514350">
              <a:buFont typeface="+mj-lt"/>
              <a:buAutoNum type="arabicPeriod"/>
            </a:pPr>
            <a:endParaRPr lang="en-US" altLang="ja-JP" kern="0" dirty="0"/>
          </a:p>
          <a:p>
            <a:pPr marL="514350" indent="-514350">
              <a:buFont typeface="+mj-lt"/>
              <a:buAutoNum type="arabicPeriod"/>
            </a:pPr>
            <a:endParaRPr lang="en-US" altLang="ja-JP" kern="0" dirty="0"/>
          </a:p>
          <a:p>
            <a:pPr marL="514350" indent="-514350">
              <a:buFont typeface="+mj-lt"/>
              <a:buAutoNum type="arabicPeriod"/>
            </a:pPr>
            <a:endParaRPr lang="en-US" altLang="ja-JP" kern="0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kern="0" dirty="0"/>
              <a:t>R1</a:t>
            </a:r>
            <a:r>
              <a:rPr lang="ja-JP" altLang="en-US" kern="0" dirty="0"/>
              <a:t>で</a:t>
            </a:r>
            <a:r>
              <a:rPr lang="en-US" altLang="ja-JP" kern="0" dirty="0"/>
              <a:t>show </a:t>
            </a:r>
            <a:r>
              <a:rPr lang="en-US" altLang="ja-JP" kern="0" dirty="0" err="1"/>
              <a:t>ip</a:t>
            </a:r>
            <a:r>
              <a:rPr lang="en-US" altLang="ja-JP" kern="0" dirty="0"/>
              <a:t> aliases</a:t>
            </a:r>
            <a:r>
              <a:rPr lang="ja-JP" altLang="en-US" kern="0" dirty="0"/>
              <a:t>コマンドを入力し、</a:t>
            </a:r>
            <a:r>
              <a:rPr lang="en-US" altLang="ja-JP" kern="0" dirty="0"/>
              <a:t>Alt</a:t>
            </a:r>
            <a:r>
              <a:rPr lang="ja-JP" altLang="en-US" kern="0" dirty="0"/>
              <a:t>キーを押しながら</a:t>
            </a:r>
            <a:r>
              <a:rPr lang="en-US" altLang="ja-JP" kern="0" dirty="0"/>
              <a:t>IP</a:t>
            </a:r>
            <a:r>
              <a:rPr lang="ja-JP" altLang="en-US" kern="0" dirty="0"/>
              <a:t>アドレスの数値のみ、部分選択する</a:t>
            </a:r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7D1208-8AC3-CFF2-001D-072409746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21</a:t>
            </a:fld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129564-3942-D1AD-0BCC-31F49560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26" y="4699294"/>
            <a:ext cx="6935168" cy="15623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B20E92D-3035-0BA7-D309-14BBE3B14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26" y="2228726"/>
            <a:ext cx="3044458" cy="11877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B1C6CC9B-B384-9E11-50C1-4A7263901ADD}"/>
              </a:ext>
            </a:extLst>
          </p:cNvPr>
          <p:cNvSpPr/>
          <p:nvPr/>
        </p:nvSpPr>
        <p:spPr>
          <a:xfrm>
            <a:off x="4637306" y="2342368"/>
            <a:ext cx="3582168" cy="951978"/>
          </a:xfrm>
          <a:prstGeom prst="wedgeRoundRectCallout">
            <a:avLst>
              <a:gd name="adj1" fmla="val -63144"/>
              <a:gd name="adj2" fmla="val -2697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7777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ADDRESS</a:t>
            </a:r>
            <a:r>
              <a:rPr kumimoji="1"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は変数なので、別の文字列でもよい</a:t>
            </a:r>
          </a:p>
        </p:txBody>
      </p:sp>
    </p:spTree>
    <p:extLst>
      <p:ext uri="{BB962C8B-B14F-4D97-AF65-F5344CB8AC3E}">
        <p14:creationId xmlns:p14="http://schemas.microsoft.com/office/powerpoint/2010/main" val="521563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E90E6C-6FD0-D35D-745A-0ED49BFE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tcl</a:t>
            </a:r>
            <a:r>
              <a:rPr lang="ja-JP" altLang="en-US" dirty="0"/>
              <a:t>スクリプトを使用した疎通確認（</a:t>
            </a:r>
            <a:r>
              <a:rPr lang="en-US" altLang="ja-JP" dirty="0"/>
              <a:t>2/4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B663C9-6AE6-8C3A-7543-D32B9BA5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ja-JP" altLang="en-US" kern="0" dirty="0"/>
              <a:t>コピーした</a:t>
            </a:r>
            <a:r>
              <a:rPr lang="en-US" altLang="ja-JP" kern="0" dirty="0"/>
              <a:t>IP</a:t>
            </a:r>
            <a:r>
              <a:rPr lang="ja-JP" altLang="en-US" kern="0" dirty="0"/>
              <a:t>アドレスを、</a:t>
            </a:r>
            <a:r>
              <a:rPr lang="en-US" altLang="ja-JP" kern="0" dirty="0"/>
              <a:t>{}</a:t>
            </a:r>
            <a:r>
              <a:rPr lang="ja-JP" altLang="en-US" kern="0" dirty="0"/>
              <a:t>内にペーストする</a:t>
            </a:r>
            <a:endParaRPr lang="en-US" altLang="ja-JP" kern="0" dirty="0"/>
          </a:p>
          <a:p>
            <a:pPr marL="514350" indent="-514350">
              <a:buFont typeface="+mj-lt"/>
              <a:buAutoNum type="arabicPeriod" startAt="3"/>
            </a:pPr>
            <a:endParaRPr lang="en-US" altLang="ja-JP" kern="0" dirty="0"/>
          </a:p>
          <a:p>
            <a:pPr marL="514350" indent="-514350">
              <a:buFont typeface="+mj-lt"/>
              <a:buAutoNum type="arabicPeriod" startAt="3"/>
            </a:pPr>
            <a:endParaRPr lang="en-US" altLang="ja-JP" kern="0" dirty="0"/>
          </a:p>
          <a:p>
            <a:pPr marL="514350" indent="-514350">
              <a:buFont typeface="+mj-lt"/>
              <a:buAutoNum type="arabicPeriod" startAt="3"/>
            </a:pPr>
            <a:endParaRPr lang="en-US" altLang="ja-JP" kern="0" dirty="0"/>
          </a:p>
          <a:p>
            <a:pPr marL="514350" indent="-514350">
              <a:buFont typeface="+mj-lt"/>
              <a:buAutoNum type="arabicPeriod" startAt="3"/>
            </a:pPr>
            <a:r>
              <a:rPr lang="ja-JP" altLang="en-US" kern="0" dirty="0"/>
              <a:t>手順</a:t>
            </a:r>
            <a:r>
              <a:rPr lang="en-US" altLang="ja-JP" kern="0" dirty="0"/>
              <a:t>2,3</a:t>
            </a:r>
            <a:r>
              <a:rPr lang="ja-JP" altLang="en-US" kern="0" dirty="0"/>
              <a:t>を、全デバイスで繰り返す</a:t>
            </a:r>
            <a:endParaRPr lang="en-US" altLang="ja-JP" kern="0" dirty="0"/>
          </a:p>
          <a:p>
            <a:pPr marL="385762" lvl="1" indent="0">
              <a:buNone/>
            </a:pPr>
            <a:r>
              <a:rPr lang="en-US" altLang="ja-JP" kern="0" dirty="0"/>
              <a:t>※</a:t>
            </a:r>
            <a:r>
              <a:rPr lang="ja-JP" altLang="en-US" kern="0" dirty="0"/>
              <a:t>スイッチで</a:t>
            </a:r>
            <a:r>
              <a:rPr lang="en-US" altLang="ja-JP" kern="0" dirty="0"/>
              <a:t>show </a:t>
            </a:r>
            <a:r>
              <a:rPr lang="en-US" altLang="ja-JP" kern="0" dirty="0" err="1"/>
              <a:t>ip</a:t>
            </a:r>
            <a:r>
              <a:rPr lang="en-US" altLang="ja-JP" kern="0" dirty="0"/>
              <a:t> aliases</a:t>
            </a:r>
            <a:r>
              <a:rPr lang="ja-JP" altLang="en-US" kern="0" dirty="0"/>
              <a:t>コマンドを実行すると、不要なアドレスも含まれるため、テキストへの反映では除外する</a:t>
            </a:r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C7663B-D02F-4C52-9700-35F880D06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22</a:t>
            </a:fld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FF5B2C-43DF-9B49-528E-41CFA75AA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26" y="1103248"/>
            <a:ext cx="3171485" cy="14344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B521B86-5446-1BF0-375B-DE426E851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26" y="3990054"/>
            <a:ext cx="5369228" cy="26219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C2BF9A61-6F59-E4BC-412D-87337AF189BE}"/>
              </a:ext>
            </a:extLst>
          </p:cNvPr>
          <p:cNvSpPr/>
          <p:nvPr/>
        </p:nvSpPr>
        <p:spPr>
          <a:xfrm>
            <a:off x="3609140" y="1442786"/>
            <a:ext cx="4413135" cy="951978"/>
          </a:xfrm>
          <a:prstGeom prst="wedgeRoundRectCallout">
            <a:avLst>
              <a:gd name="adj1" fmla="val -63743"/>
              <a:gd name="adj2" fmla="val -1501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7777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{ }</a:t>
            </a:r>
            <a:r>
              <a:rPr kumimoji="1"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内に記入された</a:t>
            </a:r>
            <a:r>
              <a:rPr kumimoji="1" lang="en-US" altLang="ja-JP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アドレスが、</a:t>
            </a:r>
            <a:r>
              <a:rPr kumimoji="1" lang="en-US" altLang="ja-JP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ping</a:t>
            </a:r>
            <a:r>
              <a:rPr kumimoji="1"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の宛先となる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1C199688-D6D2-2A1C-D97D-8DA6A73D8399}"/>
              </a:ext>
            </a:extLst>
          </p:cNvPr>
          <p:cNvSpPr/>
          <p:nvPr/>
        </p:nvSpPr>
        <p:spPr>
          <a:xfrm>
            <a:off x="5303499" y="4235387"/>
            <a:ext cx="3758451" cy="475989"/>
          </a:xfrm>
          <a:prstGeom prst="wedgeRoundRectCallout">
            <a:avLst>
              <a:gd name="adj1" fmla="val -55510"/>
              <a:gd name="adj2" fmla="val 3893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7777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ping</a:t>
            </a:r>
            <a:r>
              <a:rPr kumimoji="1"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確認不要な</a:t>
            </a:r>
            <a:r>
              <a:rPr kumimoji="1" lang="en-US" altLang="ja-JP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アドレス</a:t>
            </a:r>
          </a:p>
        </p:txBody>
      </p:sp>
    </p:spTree>
    <p:extLst>
      <p:ext uri="{BB962C8B-B14F-4D97-AF65-F5344CB8AC3E}">
        <p14:creationId xmlns:p14="http://schemas.microsoft.com/office/powerpoint/2010/main" val="1722854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4636D-145A-761A-D9A6-B864C666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tcl</a:t>
            </a:r>
            <a:r>
              <a:rPr lang="ja-JP" altLang="en-US" dirty="0"/>
              <a:t>スクリプトを使用した疎通確認（</a:t>
            </a:r>
            <a:r>
              <a:rPr lang="en-US" altLang="ja-JP" dirty="0"/>
              <a:t>3/4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278BE1-0318-C168-E233-BE2EC0586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en-US" altLang="ja-JP" kern="0" dirty="0"/>
              <a:t>Ping</a:t>
            </a:r>
            <a:r>
              <a:rPr lang="ja-JP" altLang="en-US" kern="0" dirty="0"/>
              <a:t>を実行する機器で </a:t>
            </a:r>
            <a:r>
              <a:rPr lang="en-US" altLang="ja-JP" kern="0" dirty="0" err="1"/>
              <a:t>tclsh</a:t>
            </a:r>
            <a:r>
              <a:rPr lang="en-US" altLang="ja-JP" kern="0" dirty="0"/>
              <a:t> </a:t>
            </a:r>
            <a:r>
              <a:rPr lang="ja-JP" altLang="en-US" kern="0" dirty="0"/>
              <a:t>と入力し、必要なアドレスが記入されたスクリプトを貼り付ける</a:t>
            </a:r>
            <a:endParaRPr lang="en-US" altLang="ja-JP" kern="0" dirty="0"/>
          </a:p>
          <a:p>
            <a:pPr marL="0" indent="0">
              <a:buNone/>
            </a:pPr>
            <a:r>
              <a:rPr lang="en-US" altLang="ja-JP" kern="0" dirty="0"/>
              <a:t>	</a:t>
            </a:r>
            <a:r>
              <a:rPr lang="en-US" altLang="ja-JP" kern="0" dirty="0">
                <a:solidFill>
                  <a:srgbClr val="7030A0"/>
                </a:solidFill>
              </a:rPr>
              <a:t>※</a:t>
            </a:r>
            <a:r>
              <a:rPr lang="ja-JP" altLang="en-US" kern="0" dirty="0">
                <a:solidFill>
                  <a:srgbClr val="7030A0"/>
                </a:solidFill>
              </a:rPr>
              <a:t>最初は少ないアドレスで試してみるとよい</a:t>
            </a:r>
            <a:endParaRPr lang="en-US" altLang="ja-JP" kern="0" dirty="0">
              <a:solidFill>
                <a:srgbClr val="7030A0"/>
              </a:solidFill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909222-EE77-47E7-9D02-10BCF6A2D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23</a:t>
            </a:fld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E272DC9-F329-4832-268C-262D348FB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25" y="2285792"/>
            <a:ext cx="7865583" cy="40774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4145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B5FC1-92FA-2C84-9085-4D20E6BC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tcl</a:t>
            </a:r>
            <a:r>
              <a:rPr lang="ja-JP" altLang="en-US" dirty="0"/>
              <a:t>スクリプトを使用した疎通確認（</a:t>
            </a:r>
            <a:r>
              <a:rPr lang="en-US" altLang="ja-JP" dirty="0"/>
              <a:t>4/4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D20BEF-AE5B-B9F5-E40D-88EF7F17D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 altLang="ja-JP" kern="0" dirty="0"/>
              <a:t>Ping</a:t>
            </a:r>
            <a:r>
              <a:rPr lang="ja-JP" altLang="en-US" kern="0" dirty="0"/>
              <a:t>が失敗するアドレスがあれば、トラブルシューティングして解決する</a:t>
            </a:r>
            <a:endParaRPr lang="en-US" altLang="ja-JP" kern="0" dirty="0"/>
          </a:p>
          <a:p>
            <a:pPr marL="514350" indent="-514350">
              <a:buFont typeface="+mj-lt"/>
              <a:buAutoNum type="arabicPeriod" startAt="6"/>
            </a:pPr>
            <a:endParaRPr lang="en-US" altLang="ja-JP" kern="0" dirty="0"/>
          </a:p>
          <a:p>
            <a:pPr marL="514350" indent="-514350">
              <a:buFont typeface="+mj-lt"/>
              <a:buAutoNum type="arabicPeriod" startAt="6"/>
            </a:pPr>
            <a:endParaRPr lang="en-US" altLang="ja-JP" kern="0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ja-JP" kern="0" dirty="0" err="1"/>
              <a:t>tclquit</a:t>
            </a:r>
            <a:r>
              <a:rPr lang="ja-JP" altLang="en-US" kern="0" dirty="0"/>
              <a:t>コマンドで終了する</a:t>
            </a:r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5009E1-420A-4C29-E144-652E62433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24</a:t>
            </a:fld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104ED42-11E5-DA5D-E859-26EB8DAA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26" y="3143021"/>
            <a:ext cx="3361875" cy="8058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5176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C44833F4-25BA-4526-8656-DA854ABE5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944" y="3002263"/>
            <a:ext cx="7181850" cy="535531"/>
          </a:xfrm>
        </p:spPr>
        <p:txBody>
          <a:bodyPr/>
          <a:lstStyle/>
          <a:p>
            <a:r>
              <a:rPr lang="ja-JP" altLang="en-US" dirty="0">
                <a:solidFill>
                  <a:srgbClr val="FF0000"/>
                </a:solidFill>
              </a:rPr>
              <a:t>ネットワークの構築ポイント（ヒント）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CB6096-9FB3-4D64-918E-9B87736F6DF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9563"/>
            <a:ext cx="3600450" cy="180975"/>
          </a:xfrm>
        </p:spPr>
        <p:txBody>
          <a:bodyPr/>
          <a:lstStyle/>
          <a:p>
            <a:r>
              <a:rPr lang="en-US" altLang="ja-JP"/>
              <a:t>Trainocate Japan, Ltd. All rights reserved.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6AD509-5B3F-4B99-B685-674DE984490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64500" y="6659563"/>
            <a:ext cx="1079500" cy="180975"/>
          </a:xfrm>
        </p:spPr>
        <p:txBody>
          <a:bodyPr/>
          <a:lstStyle/>
          <a:p>
            <a:fld id="{46BB8D49-91AB-4BE8-B7F4-8EAFE2BF815D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2351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D5FB-AE02-C351-7446-6DBADF92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EEAC97-85F0-AB9C-EA72-A6F2036C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②初期設定、</a:t>
            </a:r>
            <a:r>
              <a:rPr lang="en-US" altLang="ja-JP" dirty="0"/>
              <a:t>L2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5FE1A2-74E9-8FF0-11C4-41D0B7932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b="1" u="sng" dirty="0"/>
              <a:t>初期設定</a:t>
            </a:r>
            <a:endParaRPr lang="ja-JP" altLang="ja-JP" dirty="0"/>
          </a:p>
          <a:p>
            <a:pPr marL="857250" lvl="1" indent="-457200"/>
            <a:r>
              <a:rPr lang="ja-JP" altLang="ja-JP" sz="2800" dirty="0"/>
              <a:t>ホスト名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hostname</a:t>
            </a:r>
            <a:endParaRPr lang="ja-JP" altLang="ja-JP" sz="2800" dirty="0">
              <a:solidFill>
                <a:srgbClr val="FF0000"/>
              </a:solidFill>
            </a:endParaRPr>
          </a:p>
          <a:p>
            <a:pPr marL="857250" lvl="1" indent="-457200"/>
            <a:r>
              <a:rPr lang="ja-JP" altLang="ja-JP" sz="2800" dirty="0"/>
              <a:t>パスワード関連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enable</a:t>
            </a:r>
            <a:r>
              <a:rPr lang="ja-JP" altLang="en-US" sz="2800" dirty="0">
                <a:solidFill>
                  <a:srgbClr val="FF0000"/>
                </a:solidFill>
              </a:rPr>
              <a:t>パスワード、</a:t>
            </a:r>
            <a:r>
              <a:rPr lang="en-US" altLang="ja-JP" sz="2800" dirty="0" err="1">
                <a:solidFill>
                  <a:srgbClr val="FF0000"/>
                </a:solidFill>
              </a:rPr>
              <a:t>vty</a:t>
            </a:r>
            <a:r>
              <a:rPr lang="ja-JP" altLang="en-US" sz="2800" dirty="0">
                <a:solidFill>
                  <a:srgbClr val="FF0000"/>
                </a:solidFill>
              </a:rPr>
              <a:t>パスワード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857250" lvl="1" indent="-457200"/>
            <a:r>
              <a:rPr lang="ja-JP" altLang="en-US" sz="2800" dirty="0"/>
              <a:t>その他</a:t>
            </a:r>
            <a:endParaRPr lang="en-US" altLang="ja-JP" sz="2800" dirty="0"/>
          </a:p>
          <a:p>
            <a:pPr marL="400050" lvl="1" indent="0">
              <a:buNone/>
            </a:pPr>
            <a:r>
              <a:rPr lang="ja-JP" altLang="en-US" sz="2800" dirty="0"/>
              <a:t>　　⇒</a:t>
            </a:r>
            <a:r>
              <a:rPr lang="en-US" altLang="ja-JP" sz="2800" dirty="0">
                <a:solidFill>
                  <a:srgbClr val="FF0000"/>
                </a:solidFill>
              </a:rPr>
              <a:t>no </a:t>
            </a:r>
            <a:r>
              <a:rPr lang="en-US" altLang="ja-JP" sz="2800" dirty="0" err="1">
                <a:solidFill>
                  <a:srgbClr val="FF0000"/>
                </a:solidFill>
              </a:rPr>
              <a:t>ip</a:t>
            </a:r>
            <a:r>
              <a:rPr lang="en-US" altLang="ja-JP" sz="2800" dirty="0">
                <a:solidFill>
                  <a:srgbClr val="FF0000"/>
                </a:solidFill>
              </a:rPr>
              <a:t> domain-lookup</a:t>
            </a:r>
            <a:br>
              <a:rPr lang="en-US" altLang="ja-JP" sz="2800" dirty="0">
                <a:solidFill>
                  <a:srgbClr val="FF0000"/>
                </a:solidFill>
              </a:rPr>
            </a:br>
            <a:r>
              <a:rPr lang="en-US" altLang="ja-JP" sz="2800" dirty="0">
                <a:solidFill>
                  <a:srgbClr val="FF0000"/>
                </a:solidFill>
              </a:rPr>
              <a:t>       line console 0</a:t>
            </a:r>
          </a:p>
          <a:p>
            <a:pPr marL="400050" lvl="1" indent="0">
              <a:buNone/>
            </a:pPr>
            <a:r>
              <a:rPr lang="en-US" altLang="ja-JP" sz="2800" dirty="0">
                <a:solidFill>
                  <a:srgbClr val="FF0000"/>
                </a:solidFill>
              </a:rPr>
              <a:t>       exec-timeout 0 0</a:t>
            </a:r>
          </a:p>
          <a:p>
            <a:pPr marL="400050" lvl="1" indent="0">
              <a:buNone/>
            </a:pPr>
            <a:r>
              <a:rPr lang="en-US" altLang="ja-JP" sz="2800" dirty="0">
                <a:solidFill>
                  <a:srgbClr val="FF0000"/>
                </a:solidFill>
              </a:rPr>
              <a:t>       logging synchronous</a:t>
            </a:r>
            <a:endParaRPr lang="ja-JP" altLang="ja-JP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kern="0" dirty="0"/>
          </a:p>
          <a:p>
            <a:endParaRPr lang="en-US" altLang="ja-JP" kern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4AFF3D-FBDF-A661-7DFC-2C5FF97BF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57067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D4CBC-53AE-19A4-739D-F5FAE718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②初期設定、</a:t>
            </a:r>
            <a:r>
              <a:rPr lang="en-US" altLang="ja-JP" dirty="0"/>
              <a:t>L2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6E3C8B-72A7-E37C-10C8-7C8380325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L2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lvl="1"/>
            <a:r>
              <a:rPr lang="ja-JP" altLang="en-US" sz="2800" dirty="0"/>
              <a:t>クライアント</a:t>
            </a:r>
            <a:r>
              <a:rPr lang="en-US" altLang="ja-JP" sz="2800" dirty="0"/>
              <a:t>PC</a:t>
            </a:r>
            <a:r>
              <a:rPr lang="ja-JP" altLang="en-US" sz="2800" dirty="0"/>
              <a:t>を接続するポートは、部署毎に</a:t>
            </a:r>
            <a:r>
              <a:rPr lang="en-US" altLang="ja-JP" sz="2800" dirty="0"/>
              <a:t>VLAN</a:t>
            </a:r>
            <a:r>
              <a:rPr lang="ja-JP" altLang="en-US" sz="2800" dirty="0"/>
              <a:t>を割り当てる</a:t>
            </a:r>
            <a:endParaRPr lang="en-US" altLang="ja-JP" sz="2800" dirty="0"/>
          </a:p>
          <a:p>
            <a:pPr lvl="1"/>
            <a:r>
              <a:rPr lang="en-US" altLang="ja-JP" sz="2800" dirty="0"/>
              <a:t>VLAN</a:t>
            </a:r>
            <a:r>
              <a:rPr lang="ja-JP" altLang="en-US" sz="2800" dirty="0"/>
              <a:t>を追加する場合、</a:t>
            </a:r>
            <a:r>
              <a:rPr lang="en-US" altLang="ja-JP" sz="2800" dirty="0"/>
              <a:t>VLAN ID</a:t>
            </a:r>
            <a:r>
              <a:rPr lang="ja-JP" altLang="en-US" sz="2800" dirty="0"/>
              <a:t>はクライアント</a:t>
            </a:r>
            <a:r>
              <a:rPr lang="en-US" altLang="ja-JP" sz="2800" dirty="0"/>
              <a:t>PC</a:t>
            </a:r>
            <a:r>
              <a:rPr lang="ja-JP" altLang="en-US" sz="2800" dirty="0"/>
              <a:t>用に</a:t>
            </a:r>
            <a:r>
              <a:rPr lang="en-US" altLang="ja-JP" sz="2800" dirty="0"/>
              <a:t>”X0”</a:t>
            </a:r>
            <a:r>
              <a:rPr lang="ja-JP" altLang="en-US" sz="2800" dirty="0"/>
              <a:t>を割り当てる</a:t>
            </a:r>
            <a:endParaRPr lang="en-US" altLang="ja-JP" sz="2800" dirty="0"/>
          </a:p>
          <a:p>
            <a:pPr lvl="1"/>
            <a:r>
              <a:rPr lang="ja-JP" altLang="en-US" sz="2800" dirty="0"/>
              <a:t>クライアント接続用の</a:t>
            </a:r>
            <a:r>
              <a:rPr lang="en-US" altLang="ja-JP" sz="2800" dirty="0"/>
              <a:t>L2SW</a:t>
            </a:r>
            <a:r>
              <a:rPr lang="ja-JP" altLang="en-US" sz="2800" dirty="0"/>
              <a:t>は、</a:t>
            </a:r>
            <a:r>
              <a:rPr lang="en-US" altLang="ja-JP" sz="2800" dirty="0"/>
              <a:t>Telnet</a:t>
            </a:r>
            <a:r>
              <a:rPr lang="ja-JP" altLang="en-US" sz="2800" dirty="0"/>
              <a:t>接続で管理できるように管理</a:t>
            </a:r>
            <a:r>
              <a:rPr lang="en-US" altLang="ja-JP" sz="2800" dirty="0"/>
              <a:t>VLAN99</a:t>
            </a:r>
            <a:r>
              <a:rPr lang="ja-JP" altLang="en-US" sz="2800" dirty="0"/>
              <a:t>を作成する</a:t>
            </a:r>
            <a:endParaRPr lang="en-US" altLang="ja-JP" sz="2800" dirty="0"/>
          </a:p>
          <a:p>
            <a:pPr marL="457200" lvl="1" indent="0">
              <a:buNone/>
            </a:pP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ASW</a:t>
            </a:r>
            <a:r>
              <a:rPr lang="ja-JP" altLang="en-US" sz="2800" dirty="0">
                <a:solidFill>
                  <a:srgbClr val="FF0000"/>
                </a:solidFill>
              </a:rPr>
              <a:t>、</a:t>
            </a:r>
            <a:r>
              <a:rPr lang="en-US" altLang="ja-JP" sz="2800" dirty="0">
                <a:solidFill>
                  <a:srgbClr val="FF0000"/>
                </a:solidFill>
              </a:rPr>
              <a:t>DSW</a:t>
            </a:r>
            <a:r>
              <a:rPr lang="ja-JP" altLang="en-US" sz="2800" dirty="0">
                <a:solidFill>
                  <a:srgbClr val="FF0000"/>
                </a:solidFill>
              </a:rPr>
              <a:t>：</a:t>
            </a:r>
            <a:r>
              <a:rPr lang="en-US" altLang="ja-JP" sz="2800" dirty="0">
                <a:solidFill>
                  <a:srgbClr val="FF0000"/>
                </a:solidFill>
              </a:rPr>
              <a:t>VLAN10.20.30.40.50.60.99</a:t>
            </a:r>
            <a:r>
              <a:rPr lang="ja-JP" altLang="en-US" sz="2800" dirty="0">
                <a:solidFill>
                  <a:srgbClr val="FF0000"/>
                </a:solidFill>
              </a:rPr>
              <a:t>作成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lvl="1"/>
            <a:r>
              <a:rPr lang="ja-JP" altLang="en-US" sz="2800" dirty="0"/>
              <a:t>サーバを接続するポートには、</a:t>
            </a:r>
            <a:r>
              <a:rPr lang="en-US" altLang="ja-JP" sz="2800" dirty="0"/>
              <a:t>VLAN 100</a:t>
            </a:r>
            <a:r>
              <a:rPr lang="ja-JP" altLang="en-US" sz="2800" dirty="0"/>
              <a:t>を割り当てる</a:t>
            </a:r>
            <a:endParaRPr lang="en-US" altLang="ja-JP" sz="2800" dirty="0"/>
          </a:p>
          <a:p>
            <a:pPr marL="457200" lvl="1" indent="0">
              <a:buNone/>
            </a:pP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SVSW:VLAN100</a:t>
            </a:r>
            <a:r>
              <a:rPr lang="ja-JP" altLang="en-US" sz="2800" dirty="0">
                <a:solidFill>
                  <a:srgbClr val="FF0000"/>
                </a:solidFill>
              </a:rPr>
              <a:t>作成</a:t>
            </a:r>
            <a:endParaRPr lang="en-US" altLang="ja-JP" sz="2800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243CEB-BF57-38E7-FA34-F77BBDEDF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58237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38A8-9BAE-58CA-DE8D-9A9F0123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②初期設定、</a:t>
            </a:r>
            <a:r>
              <a:rPr lang="en-US" altLang="ja-JP" dirty="0"/>
              <a:t>L2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4F1E3B-D38E-D71C-6767-D9F2E650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L2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lvl="1"/>
            <a:r>
              <a:rPr lang="en-US" altLang="ja-JP" dirty="0"/>
              <a:t>ASW</a:t>
            </a:r>
            <a:r>
              <a:rPr lang="ja-JP" altLang="en-US" dirty="0"/>
              <a:t>、</a:t>
            </a:r>
            <a:r>
              <a:rPr lang="en-US" altLang="ja-JP" dirty="0"/>
              <a:t>DSW</a:t>
            </a:r>
            <a:r>
              <a:rPr lang="ja-JP" altLang="en-US" dirty="0"/>
              <a:t>を接続するポートは、</a:t>
            </a:r>
            <a:r>
              <a:rPr lang="en-US" altLang="ja-JP" dirty="0"/>
              <a:t>802.1q</a:t>
            </a:r>
            <a:r>
              <a:rPr lang="ja-JP" altLang="en-US" dirty="0"/>
              <a:t>タグを使用する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encapsulation dot1q  allowed </a:t>
            </a:r>
            <a:r>
              <a:rPr lang="en-US" altLang="ja-JP" dirty="0" err="1">
                <a:solidFill>
                  <a:srgbClr val="FF0000"/>
                </a:solidFill>
              </a:rPr>
              <a:t>vlan</a:t>
            </a:r>
            <a:r>
              <a:rPr lang="ja-JP" altLang="en-US" dirty="0">
                <a:solidFill>
                  <a:srgbClr val="FF0000"/>
                </a:solidFill>
              </a:rPr>
              <a:t>も考慮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en-US" altLang="ja-JP" dirty="0"/>
              <a:t>DSW</a:t>
            </a:r>
            <a:r>
              <a:rPr lang="ja-JP" altLang="en-US" dirty="0"/>
              <a:t>間</a:t>
            </a:r>
            <a:r>
              <a:rPr lang="en-US" altLang="ja-JP" dirty="0"/>
              <a:t>,DSW-CSW</a:t>
            </a:r>
            <a:r>
              <a:rPr lang="ja-JP" altLang="en-US" dirty="0"/>
              <a:t>間のリンクはトラフィックが集中するため、物理リンクを最大の帯域で使用できるようにする</a:t>
            </a:r>
            <a:endParaRPr lang="en-US" altLang="ja-JP" dirty="0"/>
          </a:p>
          <a:p>
            <a:pPr lvl="2"/>
            <a:r>
              <a:rPr lang="ja-JP" altLang="en-US" sz="2400" dirty="0"/>
              <a:t>標準化されているプロトコルを使用する</a:t>
            </a:r>
            <a:endParaRPr lang="en-US" altLang="ja-JP" sz="2400" dirty="0"/>
          </a:p>
          <a:p>
            <a:pPr lvl="2"/>
            <a:r>
              <a:rPr lang="en-US" altLang="ja-JP" sz="2400" dirty="0"/>
              <a:t>DSW</a:t>
            </a:r>
            <a:r>
              <a:rPr lang="ja-JP" altLang="en-US" sz="2400" dirty="0"/>
              <a:t>間のリンクは送信元、宛先</a:t>
            </a:r>
            <a:r>
              <a:rPr lang="en-US" altLang="ja-JP" sz="2400" dirty="0"/>
              <a:t>MAC</a:t>
            </a:r>
            <a:r>
              <a:rPr lang="ja-JP" altLang="en-US" sz="2400" dirty="0"/>
              <a:t>アドレスに基づいて負荷分散させる仕様とする</a:t>
            </a:r>
            <a:endParaRPr lang="en-US" altLang="ja-JP" sz="2400" dirty="0"/>
          </a:p>
          <a:p>
            <a:pPr marL="457200" lvl="1" indent="0">
              <a:buNone/>
            </a:pP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DSW</a:t>
            </a:r>
            <a:r>
              <a:rPr lang="ja-JP" altLang="en-US" dirty="0">
                <a:solidFill>
                  <a:srgbClr val="FF0000"/>
                </a:solidFill>
              </a:rPr>
              <a:t>間</a:t>
            </a:r>
            <a:r>
              <a:rPr lang="en-US" altLang="ja-JP" dirty="0">
                <a:solidFill>
                  <a:srgbClr val="FF0000"/>
                </a:solidFill>
              </a:rPr>
              <a:t>(L2</a:t>
            </a:r>
            <a:r>
              <a:rPr lang="ja-JP" altLang="en-US" dirty="0">
                <a:solidFill>
                  <a:srgbClr val="FF0000"/>
                </a:solidFill>
              </a:rPr>
              <a:t>リンク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を、</a:t>
            </a:r>
            <a:r>
              <a:rPr lang="en-US" altLang="ja-JP" dirty="0">
                <a:solidFill>
                  <a:srgbClr val="FF0000"/>
                </a:solidFill>
              </a:rPr>
              <a:t>LACP</a:t>
            </a:r>
            <a:r>
              <a:rPr lang="ja-JP" altLang="en-US" dirty="0">
                <a:solidFill>
                  <a:srgbClr val="FF0000"/>
                </a:solidFill>
              </a:rPr>
              <a:t>を使用して</a:t>
            </a:r>
            <a:r>
              <a:rPr lang="en-US" altLang="ja-JP" dirty="0">
                <a:solidFill>
                  <a:srgbClr val="FF0000"/>
                </a:solidFill>
              </a:rPr>
              <a:t>EtherChannel</a:t>
            </a:r>
            <a:r>
              <a:rPr lang="ja-JP" altLang="en-US" dirty="0">
                <a:solidFill>
                  <a:srgbClr val="FF0000"/>
                </a:solidFill>
              </a:rPr>
              <a:t>を設定</a:t>
            </a:r>
            <a:endParaRPr lang="en-US" altLang="ja-JP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ja-JP" altLang="en-US" dirty="0"/>
              <a:t>⇒ </a:t>
            </a:r>
            <a:r>
              <a:rPr lang="en-US" altLang="ja-JP" dirty="0">
                <a:solidFill>
                  <a:srgbClr val="FF0000"/>
                </a:solidFill>
              </a:rPr>
              <a:t>port-channel load-balance </a:t>
            </a:r>
            <a:r>
              <a:rPr lang="en-US" altLang="ja-JP" dirty="0" err="1">
                <a:solidFill>
                  <a:srgbClr val="FF0000"/>
                </a:solidFill>
              </a:rPr>
              <a:t>src</a:t>
            </a:r>
            <a:r>
              <a:rPr lang="en-US" altLang="ja-JP" dirty="0">
                <a:solidFill>
                  <a:srgbClr val="FF0000"/>
                </a:solidFill>
              </a:rPr>
              <a:t>-</a:t>
            </a:r>
            <a:r>
              <a:rPr lang="en-US" altLang="ja-JP" dirty="0" err="1">
                <a:solidFill>
                  <a:srgbClr val="FF0000"/>
                </a:solidFill>
              </a:rPr>
              <a:t>dst</a:t>
            </a:r>
            <a:r>
              <a:rPr lang="en-US" altLang="ja-JP" dirty="0">
                <a:solidFill>
                  <a:srgbClr val="FF0000"/>
                </a:solidFill>
              </a:rPr>
              <a:t>-mac</a:t>
            </a:r>
            <a:r>
              <a:rPr lang="ja-JP" altLang="en-US" dirty="0">
                <a:solidFill>
                  <a:srgbClr val="FF0000"/>
                </a:solidFill>
              </a:rPr>
              <a:t>も必要</a:t>
            </a:r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280849-7D76-5991-F167-C4256F228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46784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709D3F-6689-FB9E-51EC-A4BA5E68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②初期設定、</a:t>
            </a:r>
            <a:r>
              <a:rPr lang="en-US" altLang="ja-JP" dirty="0"/>
              <a:t>L2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51C908-DAEE-360A-A489-A84AB6262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L2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lvl="1"/>
            <a:r>
              <a:rPr lang="en-US" altLang="ja-JP" sz="2800" dirty="0"/>
              <a:t>ASW</a:t>
            </a:r>
            <a:r>
              <a:rPr lang="ja-JP" altLang="en-US" sz="2800" dirty="0"/>
              <a:t>－</a:t>
            </a:r>
            <a:r>
              <a:rPr lang="en-US" altLang="ja-JP" sz="2800" dirty="0"/>
              <a:t>DSW</a:t>
            </a:r>
            <a:r>
              <a:rPr lang="ja-JP" altLang="en-US" sz="2800" dirty="0"/>
              <a:t>間の</a:t>
            </a:r>
            <a:r>
              <a:rPr lang="en-US" altLang="ja-JP" sz="2800" dirty="0"/>
              <a:t>L2</a:t>
            </a:r>
            <a:r>
              <a:rPr lang="ja-JP" altLang="en-US" sz="2800" dirty="0"/>
              <a:t>の障害対策として、障害時の通信断を最小限に抑えるための機能を導入する。なお</a:t>
            </a:r>
            <a:r>
              <a:rPr lang="en-US" altLang="ja-JP" sz="2800" dirty="0"/>
              <a:t>VLAN</a:t>
            </a:r>
            <a:r>
              <a:rPr lang="ja-JP" altLang="en-US" sz="2800" dirty="0"/>
              <a:t>ごとにトラフィックが負荷分散される仕様とする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RSTP</a:t>
            </a:r>
            <a:r>
              <a:rPr lang="ja-JP" altLang="en-US" sz="2800" dirty="0">
                <a:solidFill>
                  <a:srgbClr val="FF0000"/>
                </a:solidFill>
              </a:rPr>
              <a:t>の導入、</a:t>
            </a:r>
            <a:r>
              <a:rPr lang="en-US" altLang="ja-JP" sz="2800" dirty="0">
                <a:solidFill>
                  <a:srgbClr val="FF0000"/>
                </a:solidFill>
              </a:rPr>
              <a:t>VLAN</a:t>
            </a:r>
            <a:r>
              <a:rPr lang="ja-JP" altLang="en-US" sz="2800" dirty="0">
                <a:solidFill>
                  <a:srgbClr val="FF0000"/>
                </a:solidFill>
              </a:rPr>
              <a:t>ごとにルートブリッジを変更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lvl="1"/>
            <a:r>
              <a:rPr lang="ja-JP" altLang="en-US" sz="2800" dirty="0"/>
              <a:t>クライアント</a:t>
            </a:r>
            <a:r>
              <a:rPr lang="en-US" altLang="ja-JP" sz="2800" dirty="0"/>
              <a:t>PC</a:t>
            </a:r>
            <a:r>
              <a:rPr lang="ja-JP" altLang="en-US" sz="2800" dirty="0"/>
              <a:t>が接続されるポートはコンバージェンスを早める仕様とする</a:t>
            </a:r>
            <a:endParaRPr lang="en-US" altLang="ja-JP" sz="2800" dirty="0"/>
          </a:p>
          <a:p>
            <a:pPr marL="457200" lvl="1" indent="0">
              <a:buNone/>
            </a:pPr>
            <a:r>
              <a:rPr lang="ja-JP" altLang="en-US" sz="2800" dirty="0"/>
              <a:t>⇒</a:t>
            </a:r>
            <a:r>
              <a:rPr lang="en-US" altLang="ja-JP" sz="2800" dirty="0" err="1">
                <a:solidFill>
                  <a:srgbClr val="FF0000"/>
                </a:solidFill>
              </a:rPr>
              <a:t>PortFast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lvl="1"/>
            <a:endParaRPr lang="en-US" altLang="ja-JP" sz="2800" dirty="0"/>
          </a:p>
          <a:p>
            <a:pPr marL="400050" lvl="1" indent="0">
              <a:buNone/>
            </a:pPr>
            <a:endParaRPr lang="en-US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33070A-17A8-6FA9-7A5E-FDC223B8D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29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98475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60D2FB-3347-E870-F143-F1AF98E5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</a:t>
            </a:r>
            <a:r>
              <a:rPr lang="en-US" altLang="ja-JP" dirty="0"/>
              <a:t>L3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D9A28A-4462-3DF2-209E-0D8C7BC25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000" b="1" u="sng" dirty="0"/>
              <a:t>L3</a:t>
            </a:r>
            <a:r>
              <a:rPr lang="ja-JP" altLang="ja-JP" sz="2000" b="1" u="sng" dirty="0"/>
              <a:t>項目</a:t>
            </a:r>
            <a:endParaRPr lang="ja-JP" altLang="ja-JP" sz="2000" dirty="0"/>
          </a:p>
          <a:p>
            <a:pPr lvl="1"/>
            <a:r>
              <a:rPr lang="en-US" altLang="ja-JP" sz="2000" dirty="0"/>
              <a:t>DSW-CSW</a:t>
            </a:r>
            <a:r>
              <a:rPr lang="ja-JP" altLang="en-US" sz="2000" dirty="0"/>
              <a:t>間のリンクはトラフィックが集中するため、物理リンクを最大の帯域で使用できるようにする</a:t>
            </a:r>
            <a:endParaRPr lang="en-US" altLang="ja-JP" sz="2000" dirty="0"/>
          </a:p>
          <a:p>
            <a:pPr marL="857250" lvl="2" indent="0">
              <a:buNone/>
            </a:pPr>
            <a:r>
              <a:rPr lang="en-US" altLang="ja-JP" dirty="0"/>
              <a:t>-</a:t>
            </a:r>
            <a:r>
              <a:rPr lang="ja-JP" altLang="en-US" dirty="0"/>
              <a:t>標準化されているプロトコルを使用する</a:t>
            </a:r>
            <a:br>
              <a:rPr lang="en-US" altLang="ja-JP" dirty="0"/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 LACP</a:t>
            </a:r>
            <a:r>
              <a:rPr lang="ja-JP" altLang="en-US" dirty="0">
                <a:solidFill>
                  <a:srgbClr val="FF0000"/>
                </a:solidFill>
              </a:rPr>
              <a:t>を使用して</a:t>
            </a:r>
            <a:r>
              <a:rPr lang="en-US" altLang="ja-JP" dirty="0">
                <a:solidFill>
                  <a:srgbClr val="FF0000"/>
                </a:solidFill>
              </a:rPr>
              <a:t>L3 EtherChannel</a:t>
            </a:r>
            <a:r>
              <a:rPr lang="ja-JP" altLang="en-US" dirty="0">
                <a:solidFill>
                  <a:srgbClr val="FF0000"/>
                </a:solidFill>
              </a:rPr>
              <a:t>を設定</a:t>
            </a:r>
            <a:endParaRPr lang="en-US" altLang="ja-JP" dirty="0"/>
          </a:p>
          <a:p>
            <a:pPr lvl="1"/>
            <a:r>
              <a:rPr lang="ja-JP" altLang="en-US" sz="2000" dirty="0"/>
              <a:t>ディストリビューションレイヤとコアレイヤ間、コアレイヤとルータ間は</a:t>
            </a:r>
            <a:r>
              <a:rPr lang="en-US" altLang="ja-JP" sz="2000" dirty="0"/>
              <a:t>L3</a:t>
            </a:r>
            <a:r>
              <a:rPr lang="ja-JP" altLang="en-US" sz="2000" dirty="0"/>
              <a:t>接続とする</a:t>
            </a:r>
            <a:endParaRPr lang="en-US" altLang="ja-JP" sz="2000" dirty="0"/>
          </a:p>
          <a:p>
            <a:pPr marL="857250" lvl="2" indent="0">
              <a:buNone/>
            </a:pP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DSW</a:t>
            </a:r>
            <a:r>
              <a:rPr lang="ja-JP" altLang="en-US" dirty="0">
                <a:solidFill>
                  <a:srgbClr val="FF0000"/>
                </a:solidFill>
              </a:rPr>
              <a:t>、</a:t>
            </a:r>
            <a:r>
              <a:rPr lang="en-US" altLang="ja-JP" dirty="0">
                <a:solidFill>
                  <a:srgbClr val="FF0000"/>
                </a:solidFill>
              </a:rPr>
              <a:t>CSW</a:t>
            </a:r>
            <a:r>
              <a:rPr lang="ja-JP" altLang="en-US" dirty="0">
                <a:solidFill>
                  <a:srgbClr val="FF0000"/>
                </a:solidFill>
              </a:rPr>
              <a:t>間を</a:t>
            </a:r>
            <a:r>
              <a:rPr lang="en-US" altLang="ja-JP" dirty="0">
                <a:solidFill>
                  <a:srgbClr val="FF0000"/>
                </a:solidFill>
              </a:rPr>
              <a:t>L3</a:t>
            </a:r>
            <a:r>
              <a:rPr lang="ja-JP" altLang="en-US" dirty="0">
                <a:solidFill>
                  <a:srgbClr val="FF0000"/>
                </a:solidFill>
              </a:rPr>
              <a:t>ポートに変換</a:t>
            </a:r>
            <a:r>
              <a:rPr lang="en-US" altLang="ja-JP" dirty="0">
                <a:solidFill>
                  <a:srgbClr val="FF0000"/>
                </a:solidFill>
              </a:rPr>
              <a:t>(no switchport)</a:t>
            </a:r>
          </a:p>
          <a:p>
            <a:pPr marL="800100" lvl="1" indent="-342900"/>
            <a:r>
              <a:rPr lang="ja-JP" altLang="en-US" sz="2000" dirty="0"/>
              <a:t>サーバスイッチと接続するコアレイヤのポートは</a:t>
            </a:r>
            <a:r>
              <a:rPr lang="en-US" altLang="ja-JP" sz="2000" dirty="0"/>
              <a:t>L3</a:t>
            </a:r>
            <a:r>
              <a:rPr lang="ja-JP" altLang="en-US" sz="2000" dirty="0"/>
              <a:t>ポートで接続する</a:t>
            </a:r>
            <a:endParaRPr lang="en-US" altLang="ja-JP" sz="2000" dirty="0"/>
          </a:p>
          <a:p>
            <a:pPr marL="857250" lvl="2" indent="0">
              <a:buNone/>
            </a:pP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CSW</a:t>
            </a:r>
            <a:r>
              <a:rPr lang="ja-JP" altLang="en-US" dirty="0">
                <a:solidFill>
                  <a:srgbClr val="FF0000"/>
                </a:solidFill>
              </a:rPr>
              <a:t>の</a:t>
            </a:r>
            <a:r>
              <a:rPr lang="en-US" altLang="ja-JP" dirty="0">
                <a:solidFill>
                  <a:srgbClr val="FF0000"/>
                </a:solidFill>
              </a:rPr>
              <a:t>Fa0/5</a:t>
            </a:r>
            <a:r>
              <a:rPr lang="ja-JP" altLang="en-US" dirty="0">
                <a:solidFill>
                  <a:srgbClr val="FF0000"/>
                </a:solidFill>
              </a:rPr>
              <a:t>を</a:t>
            </a:r>
            <a:r>
              <a:rPr lang="en-US" altLang="ja-JP" dirty="0">
                <a:solidFill>
                  <a:srgbClr val="FF0000"/>
                </a:solidFill>
              </a:rPr>
              <a:t>L3</a:t>
            </a:r>
            <a:r>
              <a:rPr lang="ja-JP" altLang="en-US" dirty="0">
                <a:solidFill>
                  <a:srgbClr val="FF0000"/>
                </a:solidFill>
              </a:rPr>
              <a:t>ポートに変換</a:t>
            </a:r>
            <a:r>
              <a:rPr lang="en-US" altLang="ja-JP" dirty="0">
                <a:solidFill>
                  <a:srgbClr val="FF0000"/>
                </a:solidFill>
              </a:rPr>
              <a:t>(no switchport)</a:t>
            </a:r>
            <a:endParaRPr lang="en-US" altLang="ja-JP" dirty="0"/>
          </a:p>
          <a:p>
            <a:pPr marL="857250" lvl="1" indent="-457200"/>
            <a:r>
              <a:rPr lang="ja-JP" altLang="en-US" sz="2000" dirty="0"/>
              <a:t>各種インタフェースに</a:t>
            </a:r>
            <a:r>
              <a:rPr lang="en-US" altLang="ja-JP" sz="2000" dirty="0"/>
              <a:t>IP</a:t>
            </a:r>
            <a:r>
              <a:rPr lang="ja-JP" altLang="en-US" sz="2000" dirty="0"/>
              <a:t>アドレス設定（</a:t>
            </a:r>
            <a:r>
              <a:rPr lang="en-US" altLang="ja-JP" sz="2000" dirty="0"/>
              <a:t>ASW</a:t>
            </a:r>
            <a:r>
              <a:rPr lang="ja-JP" altLang="en-US" sz="2000" dirty="0"/>
              <a:t>や</a:t>
            </a:r>
            <a:r>
              <a:rPr lang="en-US" altLang="ja-JP" sz="2000" dirty="0"/>
              <a:t>SVSW</a:t>
            </a:r>
            <a:r>
              <a:rPr lang="ja-JP" altLang="en-US" sz="2000" dirty="0"/>
              <a:t>も忘れずに）</a:t>
            </a:r>
            <a:endParaRPr lang="en-US" altLang="ja-JP" sz="2000" dirty="0"/>
          </a:p>
          <a:p>
            <a:pPr marL="800100" lvl="2" indent="0">
              <a:buNone/>
            </a:pP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SVI</a:t>
            </a:r>
            <a:r>
              <a:rPr lang="ja-JP" altLang="en-US" dirty="0">
                <a:solidFill>
                  <a:srgbClr val="FF0000"/>
                </a:solidFill>
              </a:rPr>
              <a:t>、</a:t>
            </a:r>
            <a:r>
              <a:rPr lang="en-US" altLang="ja-JP" dirty="0">
                <a:solidFill>
                  <a:srgbClr val="FF0000"/>
                </a:solidFill>
              </a:rPr>
              <a:t>L3</a:t>
            </a:r>
            <a:r>
              <a:rPr lang="ja-JP" altLang="en-US" dirty="0">
                <a:solidFill>
                  <a:srgbClr val="FF0000"/>
                </a:solidFill>
              </a:rPr>
              <a:t>ポート（ルーテッドポート）、ルータインタフェース</a:t>
            </a:r>
            <a:endParaRPr lang="en-US" altLang="ja-JP" dirty="0">
              <a:solidFill>
                <a:srgbClr val="FF0000"/>
              </a:solidFill>
            </a:endParaRPr>
          </a:p>
          <a:p>
            <a:pPr marL="857250" lvl="1" indent="-457200"/>
            <a:r>
              <a:rPr lang="en-US" altLang="ja-JP" sz="2000" dirty="0"/>
              <a:t>DSW</a:t>
            </a:r>
            <a:r>
              <a:rPr lang="ja-JP" altLang="en-US" sz="2000" dirty="0"/>
              <a:t>を各クライアントセグメントの</a:t>
            </a:r>
            <a:r>
              <a:rPr lang="en-US" altLang="ja-JP" sz="2000" dirty="0"/>
              <a:t>DHCP</a:t>
            </a:r>
            <a:r>
              <a:rPr lang="ja-JP" altLang="en-US" sz="2000" dirty="0"/>
              <a:t>サーバーとし、</a:t>
            </a:r>
            <a:br>
              <a:rPr lang="en-US" altLang="ja-JP" sz="2000" dirty="0"/>
            </a:br>
            <a:r>
              <a:rPr lang="ja-JP" altLang="en-US" sz="2000" dirty="0"/>
              <a:t>効率的にトラフィックが流れるようにする</a:t>
            </a:r>
            <a:endParaRPr lang="en-US" altLang="ja-JP" sz="2000" dirty="0"/>
          </a:p>
          <a:p>
            <a:pPr marL="800100" lvl="2" indent="0">
              <a:buNone/>
            </a:pPr>
            <a:r>
              <a:rPr lang="ja-JP" altLang="en-US" dirty="0"/>
              <a:t>⇒</a:t>
            </a:r>
            <a:r>
              <a:rPr lang="ja-JP" altLang="en-US" dirty="0">
                <a:solidFill>
                  <a:srgbClr val="FF0000"/>
                </a:solidFill>
              </a:rPr>
              <a:t>各</a:t>
            </a:r>
            <a:r>
              <a:rPr lang="en-US" altLang="ja-JP" dirty="0">
                <a:solidFill>
                  <a:srgbClr val="FF0000"/>
                </a:solidFill>
              </a:rPr>
              <a:t>VLAN</a:t>
            </a:r>
            <a:r>
              <a:rPr lang="ja-JP" altLang="en-US" dirty="0">
                <a:solidFill>
                  <a:srgbClr val="FF0000"/>
                </a:solidFill>
              </a:rPr>
              <a:t>のルートブリッジを</a:t>
            </a:r>
            <a:r>
              <a:rPr lang="en-US" altLang="ja-JP" dirty="0">
                <a:solidFill>
                  <a:srgbClr val="FF0000"/>
                </a:solidFill>
              </a:rPr>
              <a:t>DHCP</a:t>
            </a:r>
            <a:r>
              <a:rPr lang="ja-JP" altLang="en-US" dirty="0">
                <a:solidFill>
                  <a:srgbClr val="FF0000"/>
                </a:solidFill>
              </a:rPr>
              <a:t>サーバーに設定</a:t>
            </a:r>
            <a:endParaRPr lang="en-US" altLang="ja-JP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en-US" altLang="ja-JP" sz="2000" dirty="0"/>
          </a:p>
          <a:p>
            <a:pPr marL="400050" lvl="1" indent="0">
              <a:buNone/>
            </a:pPr>
            <a:endParaRPr lang="ja-JP" altLang="ja-JP" sz="2000" dirty="0"/>
          </a:p>
          <a:p>
            <a:endParaRPr lang="en-US" altLang="ja-JP" sz="2000" kern="0" dirty="0"/>
          </a:p>
          <a:p>
            <a:endParaRPr lang="en-US" altLang="ja-JP" sz="2000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0D013F-CE81-91A8-7953-ADB1C820A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58513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13445B-73E8-D064-8122-F4FBF5D5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</a:t>
            </a:r>
            <a:r>
              <a:rPr lang="en-US" altLang="ja-JP" dirty="0"/>
              <a:t>L3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016FCA-ED5D-EFEE-5934-9E73440D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L3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lvl="1"/>
            <a:r>
              <a:rPr lang="en-US" altLang="ja-JP" sz="2000" dirty="0"/>
              <a:t>PC</a:t>
            </a:r>
            <a:r>
              <a:rPr lang="ja-JP" altLang="en-US" sz="2000" dirty="0"/>
              <a:t>－</a:t>
            </a:r>
            <a:r>
              <a:rPr lang="en-US" altLang="ja-JP" sz="2000" dirty="0"/>
              <a:t>DSW</a:t>
            </a:r>
            <a:r>
              <a:rPr lang="ja-JP" altLang="en-US" sz="2000" dirty="0"/>
              <a:t>間の</a:t>
            </a:r>
            <a:r>
              <a:rPr lang="en-US" altLang="ja-JP" sz="2000" dirty="0"/>
              <a:t>L3</a:t>
            </a:r>
            <a:r>
              <a:rPr lang="ja-JP" altLang="en-US" sz="2000" dirty="0"/>
              <a:t>の障害対策として、独自のプロトコルを実装して、以下の条件でデフォルトゲートウェイが自動的に切り替わる仕様とする</a:t>
            </a:r>
            <a:endParaRPr lang="en-US" altLang="ja-JP" sz="2000" dirty="0"/>
          </a:p>
          <a:p>
            <a:pPr lvl="2"/>
            <a:r>
              <a:rPr lang="en-US" altLang="ja-JP" sz="1800" dirty="0"/>
              <a:t>VLAN</a:t>
            </a:r>
            <a:r>
              <a:rPr lang="ja-JP" altLang="en-US" sz="1800" dirty="0"/>
              <a:t>ごとにトラフィックを分散するよう設定し、トラフィックが偏らないようにする</a:t>
            </a:r>
            <a:endParaRPr lang="en-US" altLang="ja-JP" sz="1800" dirty="0"/>
          </a:p>
          <a:p>
            <a:pPr marL="914400" lvl="2" indent="0">
              <a:buNone/>
            </a:pPr>
            <a:r>
              <a:rPr lang="ja-JP" altLang="en-US" sz="2600" dirty="0"/>
              <a:t>⇒</a:t>
            </a:r>
            <a:r>
              <a:rPr lang="ja-JP" altLang="en-US" sz="2600" dirty="0">
                <a:solidFill>
                  <a:srgbClr val="FF0000"/>
                </a:solidFill>
              </a:rPr>
              <a:t>各</a:t>
            </a:r>
            <a:r>
              <a:rPr lang="en-US" altLang="ja-JP" sz="2600" dirty="0">
                <a:solidFill>
                  <a:srgbClr val="FF0000"/>
                </a:solidFill>
              </a:rPr>
              <a:t>VLAN</a:t>
            </a:r>
            <a:r>
              <a:rPr lang="ja-JP" altLang="en-US" sz="2600" dirty="0">
                <a:solidFill>
                  <a:srgbClr val="FF0000"/>
                </a:solidFill>
              </a:rPr>
              <a:t>のルートブリッジをアクティブルータとなるように</a:t>
            </a:r>
            <a:r>
              <a:rPr lang="en-US" altLang="ja-JP" sz="2600" dirty="0">
                <a:solidFill>
                  <a:srgbClr val="FF0000"/>
                </a:solidFill>
              </a:rPr>
              <a:t>HSRP</a:t>
            </a:r>
            <a:r>
              <a:rPr lang="ja-JP" altLang="en-US" sz="2600" dirty="0">
                <a:solidFill>
                  <a:srgbClr val="FF0000"/>
                </a:solidFill>
              </a:rPr>
              <a:t>プライオリティを調整</a:t>
            </a:r>
            <a:endParaRPr lang="en-US" altLang="ja-JP" sz="2600" dirty="0"/>
          </a:p>
          <a:p>
            <a:pPr lvl="2"/>
            <a:r>
              <a:rPr lang="ja-JP" altLang="en-US" dirty="0"/>
              <a:t>ダウンタイムを短く設定し、障害検知を早める</a:t>
            </a:r>
            <a:endParaRPr lang="en-US" altLang="ja-JP" sz="3200" dirty="0"/>
          </a:p>
          <a:p>
            <a:pPr marL="914400" lvl="2" indent="0">
              <a:buNone/>
            </a:pPr>
            <a:r>
              <a:rPr lang="ja-JP" altLang="en-US" dirty="0"/>
              <a:t>⇒</a:t>
            </a:r>
            <a:r>
              <a:rPr lang="en-US" altLang="ja-JP" sz="2600" dirty="0">
                <a:solidFill>
                  <a:srgbClr val="FF0000"/>
                </a:solidFill>
              </a:rPr>
              <a:t>Hello</a:t>
            </a:r>
            <a:r>
              <a:rPr lang="ja-JP" altLang="en-US" sz="2600" dirty="0">
                <a:solidFill>
                  <a:srgbClr val="FF0000"/>
                </a:solidFill>
              </a:rPr>
              <a:t>、</a:t>
            </a:r>
            <a:r>
              <a:rPr lang="en-US" altLang="ja-JP" sz="2600" dirty="0">
                <a:solidFill>
                  <a:srgbClr val="FF0000"/>
                </a:solidFill>
              </a:rPr>
              <a:t>Hol</a:t>
            </a:r>
            <a:r>
              <a:rPr lang="ja-JP" altLang="en-US" sz="2600" dirty="0">
                <a:solidFill>
                  <a:srgbClr val="FF0000"/>
                </a:solidFill>
              </a:rPr>
              <a:t>ｄタイマー短い値に調整</a:t>
            </a:r>
            <a:endParaRPr lang="en-US" altLang="ja-JP" sz="2600" dirty="0"/>
          </a:p>
          <a:p>
            <a:pPr marL="400050" lvl="1" indent="0">
              <a:buNone/>
            </a:pPr>
            <a:endParaRPr lang="en-US" altLang="ja-JP" sz="2800" dirty="0"/>
          </a:p>
          <a:p>
            <a:pPr marL="400050" lvl="1" indent="0">
              <a:buNone/>
            </a:pPr>
            <a:endParaRPr lang="ja-JP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685059-6276-DC1A-E942-C68CFF857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82064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70DA4C-F865-A509-4BC9-5226AB5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</a:t>
            </a:r>
            <a:r>
              <a:rPr lang="en-US" altLang="ja-JP" dirty="0"/>
              <a:t>L3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A9C747-07FD-F535-4EAB-E281F19FE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L3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lvl="2"/>
            <a:r>
              <a:rPr lang="ja-JP" altLang="en-US" sz="2600" dirty="0"/>
              <a:t>一方の</a:t>
            </a:r>
            <a:r>
              <a:rPr lang="en-US" altLang="ja-JP" sz="2600" dirty="0"/>
              <a:t>DSW</a:t>
            </a:r>
            <a:r>
              <a:rPr lang="ja-JP" altLang="en-US" sz="2600" dirty="0"/>
              <a:t>で</a:t>
            </a:r>
            <a:r>
              <a:rPr lang="en-US" altLang="ja-JP" sz="2600" dirty="0"/>
              <a:t>CSW1,2</a:t>
            </a:r>
            <a:r>
              <a:rPr lang="ja-JP" altLang="en-US" sz="2600" dirty="0"/>
              <a:t>との接続障害が発生したら、もう一方の</a:t>
            </a:r>
            <a:r>
              <a:rPr lang="en-US" altLang="ja-JP" sz="2600" dirty="0"/>
              <a:t>DSW</a:t>
            </a:r>
            <a:r>
              <a:rPr lang="ja-JP" altLang="en-US" sz="2600" dirty="0"/>
              <a:t>に切り替える</a:t>
            </a:r>
            <a:endParaRPr lang="en-US" altLang="ja-JP" sz="2600" dirty="0"/>
          </a:p>
          <a:p>
            <a:pPr marL="914400" lvl="2" indent="0">
              <a:buNone/>
            </a:pPr>
            <a:r>
              <a:rPr lang="ja-JP" altLang="en-US" sz="2600" dirty="0"/>
              <a:t>⇒</a:t>
            </a:r>
            <a:r>
              <a:rPr lang="ja-JP" altLang="en-US" sz="2600" dirty="0">
                <a:solidFill>
                  <a:srgbClr val="FF0000"/>
                </a:solidFill>
              </a:rPr>
              <a:t>インタフェーストラッキングで調整</a:t>
            </a:r>
            <a:endParaRPr lang="en-US" altLang="ja-JP" sz="2600" dirty="0"/>
          </a:p>
          <a:p>
            <a:pPr lvl="2"/>
            <a:r>
              <a:rPr lang="ja-JP" altLang="en-US" sz="2600" dirty="0"/>
              <a:t>プライオリティが小さい状態で</a:t>
            </a:r>
            <a:r>
              <a:rPr lang="en-US" altLang="ja-JP" sz="2600" dirty="0"/>
              <a:t>Active</a:t>
            </a:r>
            <a:r>
              <a:rPr lang="ja-JP" altLang="en-US" sz="2600" dirty="0"/>
              <a:t>を維持するのを防止する</a:t>
            </a:r>
            <a:endParaRPr lang="en-US" altLang="ja-JP" sz="2600" dirty="0"/>
          </a:p>
          <a:p>
            <a:pPr marL="914400" lvl="2" indent="0">
              <a:buNone/>
            </a:pPr>
            <a:r>
              <a:rPr lang="ja-JP" altLang="en-US" sz="2600" dirty="0"/>
              <a:t>⇒</a:t>
            </a:r>
            <a:r>
              <a:rPr lang="en-US" altLang="ja-JP" sz="2600" dirty="0">
                <a:solidFill>
                  <a:srgbClr val="FF0000"/>
                </a:solidFill>
              </a:rPr>
              <a:t>preempt</a:t>
            </a:r>
            <a:r>
              <a:rPr lang="ja-JP" altLang="en-US" sz="2600" dirty="0">
                <a:solidFill>
                  <a:srgbClr val="FF0000"/>
                </a:solidFill>
              </a:rPr>
              <a:t>で調整</a:t>
            </a:r>
            <a:endParaRPr lang="en-US" altLang="ja-JP" sz="2600" dirty="0"/>
          </a:p>
          <a:p>
            <a:pPr marL="400050" lvl="1" indent="0">
              <a:buNone/>
            </a:pPr>
            <a:endParaRPr lang="en-US" altLang="ja-JP" sz="2800" dirty="0"/>
          </a:p>
          <a:p>
            <a:pPr marL="400050" lvl="1" indent="0">
              <a:buNone/>
            </a:pPr>
            <a:endParaRPr lang="ja-JP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BA7152-4D28-8149-6B4A-C5A25238B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87980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F299A8-7CEB-8E5B-5F33-9CDCBAEE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</a:t>
            </a:r>
            <a:r>
              <a:rPr lang="en-US" altLang="ja-JP" dirty="0"/>
              <a:t>L3</a:t>
            </a:r>
            <a:r>
              <a:rPr lang="ja-JP" altLang="en-US" dirty="0"/>
              <a:t>項目（ポイント）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850801-42B8-B2F3-8E2A-73F55AAE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L3</a:t>
            </a:r>
            <a:r>
              <a:rPr lang="ja-JP" altLang="ja-JP" b="1" u="sng" dirty="0"/>
              <a:t>項目</a:t>
            </a:r>
            <a:endParaRPr lang="ja-JP" altLang="ja-JP" dirty="0"/>
          </a:p>
          <a:p>
            <a:pPr lvl="1">
              <a:buClr>
                <a:srgbClr val="000000"/>
              </a:buClr>
            </a:pPr>
            <a:r>
              <a:rPr lang="ja-JP" altLang="en-US" sz="2800" dirty="0">
                <a:solidFill>
                  <a:srgbClr val="000000"/>
                </a:solidFill>
              </a:rPr>
              <a:t>監視サーバーと</a:t>
            </a:r>
            <a:r>
              <a:rPr lang="en-US" altLang="ja-JP" sz="2800" dirty="0">
                <a:solidFill>
                  <a:srgbClr val="000000"/>
                </a:solidFill>
              </a:rPr>
              <a:t>CSW</a:t>
            </a:r>
            <a:r>
              <a:rPr lang="ja-JP" altLang="en-US" sz="2800" dirty="0">
                <a:solidFill>
                  <a:srgbClr val="000000"/>
                </a:solidFill>
              </a:rPr>
              <a:t>間の</a:t>
            </a:r>
            <a:r>
              <a:rPr lang="en-US" altLang="ja-JP" sz="2800" dirty="0">
                <a:solidFill>
                  <a:srgbClr val="000000"/>
                </a:solidFill>
              </a:rPr>
              <a:t>L3</a:t>
            </a:r>
            <a:r>
              <a:rPr lang="ja-JP" altLang="en-US" sz="2800" dirty="0">
                <a:solidFill>
                  <a:srgbClr val="000000"/>
                </a:solidFill>
              </a:rPr>
              <a:t>の障害対策として、独自のプロトコルを実装して、以下の条件でデフォルトゲートウェイが自動的に切り替わる仕様とする</a:t>
            </a:r>
            <a:endParaRPr lang="en-US" altLang="ja-JP" sz="2800" dirty="0">
              <a:solidFill>
                <a:srgbClr val="000000"/>
              </a:solidFill>
            </a:endParaRPr>
          </a:p>
          <a:p>
            <a:pPr marL="903288" lvl="2" indent="11113">
              <a:buClr>
                <a:srgbClr val="000000"/>
              </a:buClr>
            </a:pPr>
            <a:r>
              <a:rPr lang="en-US" altLang="ja-JP" sz="2600" dirty="0">
                <a:solidFill>
                  <a:srgbClr val="000000"/>
                </a:solidFill>
              </a:rPr>
              <a:t>CSW1</a:t>
            </a:r>
            <a:r>
              <a:rPr lang="ja-JP" altLang="en-US" sz="2600" dirty="0">
                <a:solidFill>
                  <a:srgbClr val="000000"/>
                </a:solidFill>
              </a:rPr>
              <a:t>をアクティブゲートウェイとする</a:t>
            </a:r>
            <a:br>
              <a:rPr lang="en-US" altLang="ja-JP" sz="2600" dirty="0">
                <a:solidFill>
                  <a:srgbClr val="000000"/>
                </a:solidFill>
              </a:rPr>
            </a:br>
            <a:r>
              <a:rPr lang="ja-JP" altLang="en-US" sz="2600" dirty="0"/>
              <a:t>⇒</a:t>
            </a:r>
            <a:r>
              <a:rPr lang="en-US" altLang="ja-JP" sz="2600" dirty="0">
                <a:solidFill>
                  <a:srgbClr val="FF0000"/>
                </a:solidFill>
              </a:rPr>
              <a:t>HSRP</a:t>
            </a:r>
            <a:r>
              <a:rPr lang="ja-JP" altLang="en-US" sz="2600" dirty="0">
                <a:solidFill>
                  <a:srgbClr val="FF0000"/>
                </a:solidFill>
              </a:rPr>
              <a:t>プライオリティで調整</a:t>
            </a:r>
            <a:endParaRPr lang="en-US" altLang="ja-JP" sz="2600" dirty="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</a:pPr>
            <a:r>
              <a:rPr lang="ja-JP" altLang="en-US" sz="2600" dirty="0"/>
              <a:t>ダウンタイムを短く設定し、障害検知を早め、プライオリティが小さい状態で</a:t>
            </a:r>
            <a:r>
              <a:rPr lang="en-US" altLang="ja-JP" sz="2600" dirty="0"/>
              <a:t>Active</a:t>
            </a:r>
            <a:r>
              <a:rPr lang="ja-JP" altLang="en-US" sz="2600" dirty="0"/>
              <a:t>を維持するのを防止する</a:t>
            </a:r>
            <a:endParaRPr lang="en-US" altLang="ja-JP" sz="2600" dirty="0"/>
          </a:p>
          <a:p>
            <a:pPr marL="914400" lvl="2" indent="0">
              <a:buNone/>
            </a:pPr>
            <a:r>
              <a:rPr lang="ja-JP" altLang="en-US" sz="2600" dirty="0"/>
              <a:t>⇒</a:t>
            </a:r>
            <a:r>
              <a:rPr lang="en-US" altLang="ja-JP" sz="2600" dirty="0">
                <a:solidFill>
                  <a:srgbClr val="FF0000"/>
                </a:solidFill>
              </a:rPr>
              <a:t> Hello</a:t>
            </a:r>
            <a:r>
              <a:rPr lang="ja-JP" altLang="en-US" sz="2600" dirty="0">
                <a:solidFill>
                  <a:srgbClr val="FF0000"/>
                </a:solidFill>
              </a:rPr>
              <a:t>、</a:t>
            </a:r>
            <a:r>
              <a:rPr lang="en-US" altLang="ja-JP" sz="2600" dirty="0">
                <a:solidFill>
                  <a:srgbClr val="FF0000"/>
                </a:solidFill>
              </a:rPr>
              <a:t>Hold</a:t>
            </a:r>
            <a:r>
              <a:rPr lang="ja-JP" altLang="en-US" sz="2600" dirty="0">
                <a:solidFill>
                  <a:srgbClr val="FF0000"/>
                </a:solidFill>
              </a:rPr>
              <a:t>タイマー短い値に調整、</a:t>
            </a:r>
            <a:r>
              <a:rPr lang="en-US" altLang="ja-JP" sz="2600" dirty="0">
                <a:solidFill>
                  <a:srgbClr val="FF0000"/>
                </a:solidFill>
              </a:rPr>
              <a:t>Preempt</a:t>
            </a:r>
            <a:r>
              <a:rPr lang="ja-JP" altLang="en-US" sz="2600" dirty="0">
                <a:solidFill>
                  <a:srgbClr val="FF0000"/>
                </a:solidFill>
              </a:rPr>
              <a:t>で調整</a:t>
            </a:r>
            <a:endParaRPr lang="en-US" altLang="ja-JP" sz="260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ja-JP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48A0EA-F967-8B62-62CC-0F5C6DA3E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86885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A4F748-E25C-7F70-896D-7140E2AF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④ルーティング（</a:t>
            </a:r>
            <a:r>
              <a:rPr lang="en-US" altLang="ja-JP" dirty="0"/>
              <a:t>IGP</a:t>
            </a:r>
            <a:r>
              <a:rPr lang="ja-JP" altLang="en-US" dirty="0"/>
              <a:t>）（ポイント）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884BCE-3EC5-CDE3-E239-7D4C33B62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u="sng" dirty="0"/>
              <a:t>ルーティング（</a:t>
            </a:r>
            <a:r>
              <a:rPr lang="en-US" altLang="ja-JP" b="1" u="sng" dirty="0"/>
              <a:t>IGP</a:t>
            </a:r>
            <a:r>
              <a:rPr lang="ja-JP" altLang="en-US" b="1" u="sng" dirty="0"/>
              <a:t>）</a:t>
            </a:r>
            <a:endParaRPr lang="ja-JP" altLang="ja-JP" dirty="0"/>
          </a:p>
          <a:p>
            <a:pPr lvl="1"/>
            <a:r>
              <a:rPr lang="ja-JP" altLang="en-US" sz="2800" dirty="0"/>
              <a:t>拠点内のルーティングプロトコルはルールに従って</a:t>
            </a:r>
            <a:r>
              <a:rPr lang="en-US" altLang="ja-JP" sz="2800" dirty="0"/>
              <a:t>OSPF</a:t>
            </a:r>
            <a:r>
              <a:rPr lang="ja-JP" altLang="en-US" sz="2800" dirty="0"/>
              <a:t>を使用する</a:t>
            </a:r>
            <a:endParaRPr lang="en-US" altLang="ja-JP" sz="2800" dirty="0"/>
          </a:p>
          <a:p>
            <a:pPr lvl="2"/>
            <a:r>
              <a:rPr lang="en-US" altLang="ja-JP" sz="2600" dirty="0"/>
              <a:t>MD5</a:t>
            </a:r>
            <a:r>
              <a:rPr lang="ja-JP" altLang="en-US" sz="2600" dirty="0"/>
              <a:t>認証を有効化し、セキュリティを強化する（パスワード：</a:t>
            </a:r>
            <a:r>
              <a:rPr lang="en-US" altLang="ja-JP" sz="2600" dirty="0"/>
              <a:t>cisco123</a:t>
            </a:r>
            <a:r>
              <a:rPr lang="ja-JP" altLang="en-US" sz="2600" dirty="0"/>
              <a:t>）</a:t>
            </a:r>
            <a:br>
              <a:rPr lang="en-US" altLang="ja-JP" sz="2600" dirty="0"/>
            </a:br>
            <a:r>
              <a:rPr lang="ja-JP" altLang="en-US" sz="2600" dirty="0"/>
              <a:t>⇒</a:t>
            </a:r>
            <a:r>
              <a:rPr lang="ja-JP" altLang="en-US" sz="2600" dirty="0">
                <a:solidFill>
                  <a:srgbClr val="FF0000"/>
                </a:solidFill>
              </a:rPr>
              <a:t>認証の設定</a:t>
            </a:r>
            <a:endParaRPr lang="en-US" altLang="ja-JP" sz="2600" dirty="0">
              <a:solidFill>
                <a:srgbClr val="FF0000"/>
              </a:solidFill>
            </a:endParaRPr>
          </a:p>
          <a:p>
            <a:pPr lvl="2"/>
            <a:r>
              <a:rPr lang="en-US" altLang="ja-JP" sz="2600" dirty="0"/>
              <a:t>DSW</a:t>
            </a:r>
            <a:r>
              <a:rPr lang="ja-JP" altLang="en-US" sz="2600" dirty="0"/>
              <a:t>、</a:t>
            </a:r>
            <a:r>
              <a:rPr lang="en-US" altLang="ja-JP" sz="2600" dirty="0"/>
              <a:t>CSW</a:t>
            </a:r>
            <a:r>
              <a:rPr lang="ja-JP" altLang="en-US" sz="2600" dirty="0"/>
              <a:t>、</a:t>
            </a:r>
            <a:r>
              <a:rPr lang="en-US" altLang="ja-JP" sz="2600" dirty="0"/>
              <a:t>Router</a:t>
            </a:r>
            <a:r>
              <a:rPr lang="ja-JP" altLang="en-US" sz="2600" dirty="0"/>
              <a:t>までをエリア</a:t>
            </a:r>
            <a:r>
              <a:rPr lang="en-US" altLang="ja-JP" sz="2600" dirty="0"/>
              <a:t>0</a:t>
            </a:r>
            <a:r>
              <a:rPr lang="ja-JP" altLang="en-US" sz="2600" dirty="0"/>
              <a:t>とし、</a:t>
            </a:r>
            <a:r>
              <a:rPr lang="en-US" altLang="ja-JP" sz="2600" dirty="0"/>
              <a:t>DSW</a:t>
            </a:r>
            <a:r>
              <a:rPr lang="ja-JP" altLang="en-US" sz="2600" dirty="0"/>
              <a:t>以下はエリア</a:t>
            </a:r>
            <a:r>
              <a:rPr lang="en-US" altLang="ja-JP" sz="2600" dirty="0"/>
              <a:t>1</a:t>
            </a:r>
            <a:r>
              <a:rPr lang="ja-JP" altLang="en-US" sz="2600" dirty="0"/>
              <a:t>とする</a:t>
            </a:r>
            <a:br>
              <a:rPr lang="en-US" altLang="ja-JP" sz="2600" dirty="0"/>
            </a:br>
            <a:r>
              <a:rPr lang="ja-JP" altLang="en-US" sz="2600" dirty="0"/>
              <a:t>⇒</a:t>
            </a:r>
            <a:r>
              <a:rPr lang="en-US" altLang="ja-JP" sz="2600" dirty="0">
                <a:solidFill>
                  <a:srgbClr val="FF0000"/>
                </a:solidFill>
              </a:rPr>
              <a:t>DSW</a:t>
            </a:r>
            <a:r>
              <a:rPr lang="ja-JP" altLang="en-US" sz="2600" dirty="0">
                <a:solidFill>
                  <a:srgbClr val="FF0000"/>
                </a:solidFill>
              </a:rPr>
              <a:t>が</a:t>
            </a:r>
            <a:r>
              <a:rPr lang="en-US" altLang="ja-JP" sz="2600" dirty="0">
                <a:solidFill>
                  <a:srgbClr val="FF0000"/>
                </a:solidFill>
              </a:rPr>
              <a:t>ABR</a:t>
            </a:r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B4662-A59E-747F-6CB1-41A23A13D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12256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62D526-1FBE-73AD-3969-9951D979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④ルーティング（</a:t>
            </a:r>
            <a:r>
              <a:rPr lang="en-US" altLang="ja-JP" dirty="0"/>
              <a:t>IGP</a:t>
            </a:r>
            <a:r>
              <a:rPr lang="ja-JP" altLang="en-US" dirty="0"/>
              <a:t>）（ポイント）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F16534-3E6F-17A3-B03B-EB2A05378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u="sng" dirty="0"/>
              <a:t>ルーティング（</a:t>
            </a:r>
            <a:r>
              <a:rPr lang="en-US" altLang="ja-JP" b="1" u="sng" dirty="0"/>
              <a:t>IGP</a:t>
            </a:r>
            <a:r>
              <a:rPr lang="ja-JP" altLang="en-US" b="1" u="sng" dirty="0"/>
              <a:t>）</a:t>
            </a:r>
            <a:endParaRPr lang="ja-JP" altLang="ja-JP" dirty="0"/>
          </a:p>
          <a:p>
            <a:pPr lvl="2"/>
            <a:r>
              <a:rPr lang="ja-JP" altLang="en-US" sz="2600" dirty="0"/>
              <a:t>クライアント側にルーティングアップデートが送信されないようにする</a:t>
            </a:r>
            <a:br>
              <a:rPr lang="en-US" altLang="ja-JP" sz="2600" dirty="0"/>
            </a:br>
            <a:r>
              <a:rPr lang="ja-JP" altLang="en-US" sz="2600" dirty="0"/>
              <a:t>⇒</a:t>
            </a:r>
            <a:r>
              <a:rPr lang="ja-JP" altLang="en-US" sz="2600" dirty="0">
                <a:solidFill>
                  <a:srgbClr val="FF0000"/>
                </a:solidFill>
              </a:rPr>
              <a:t>パッシブインタフェース</a:t>
            </a:r>
            <a:endParaRPr lang="en-US" altLang="ja-JP" sz="2600" dirty="0">
              <a:solidFill>
                <a:srgbClr val="FF0000"/>
              </a:solidFill>
            </a:endParaRPr>
          </a:p>
          <a:p>
            <a:pPr lvl="2"/>
            <a:r>
              <a:rPr lang="en-US" altLang="ja-JP" sz="2600" dirty="0"/>
              <a:t>/30</a:t>
            </a:r>
            <a:r>
              <a:rPr lang="ja-JP" altLang="en-US" sz="2600" dirty="0"/>
              <a:t>ネットワークは</a:t>
            </a:r>
            <a:r>
              <a:rPr lang="en-US" altLang="ja-JP" sz="2600" dirty="0"/>
              <a:t>DR/BDR</a:t>
            </a:r>
            <a:r>
              <a:rPr lang="ja-JP" altLang="en-US" sz="2600" dirty="0"/>
              <a:t>の選定を無くしコンバージェンスを早めるようにする</a:t>
            </a:r>
            <a:br>
              <a:rPr lang="en-US" altLang="ja-JP" sz="2600" dirty="0"/>
            </a:br>
            <a:r>
              <a:rPr lang="ja-JP" altLang="en-US" sz="2600" dirty="0"/>
              <a:t>⇒</a:t>
            </a:r>
            <a:r>
              <a:rPr lang="ja-JP" altLang="en-US" sz="2600" dirty="0">
                <a:solidFill>
                  <a:srgbClr val="FF0000"/>
                </a:solidFill>
              </a:rPr>
              <a:t>ネットワークタイプを変更</a:t>
            </a:r>
            <a:endParaRPr lang="en-US" altLang="ja-JP" sz="2600" dirty="0">
              <a:solidFill>
                <a:srgbClr val="FF0000"/>
              </a:solidFill>
            </a:endParaRPr>
          </a:p>
          <a:p>
            <a:pPr lvl="2"/>
            <a:r>
              <a:rPr lang="ja-JP" altLang="en-US" sz="2600" dirty="0"/>
              <a:t>ルータ</a:t>
            </a:r>
            <a:r>
              <a:rPr lang="en-US" altLang="ja-JP" sz="2600" dirty="0"/>
              <a:t>ID</a:t>
            </a:r>
            <a:r>
              <a:rPr lang="ja-JP" altLang="en-US" sz="2600" dirty="0"/>
              <a:t>は手動設定とする</a:t>
            </a:r>
            <a:br>
              <a:rPr lang="en-US" altLang="ja-JP" sz="2600" dirty="0"/>
            </a:br>
            <a:r>
              <a:rPr lang="ja-JP" altLang="en-US" sz="2600" dirty="0"/>
              <a:t>⇒</a:t>
            </a:r>
            <a:r>
              <a:rPr lang="en-US" altLang="ja-JP" sz="2600" dirty="0">
                <a:solidFill>
                  <a:srgbClr val="FF0000"/>
                </a:solidFill>
              </a:rPr>
              <a:t>router-id</a:t>
            </a:r>
            <a:r>
              <a:rPr lang="ja-JP" altLang="en-US" sz="2600" dirty="0">
                <a:solidFill>
                  <a:srgbClr val="FF0000"/>
                </a:solidFill>
              </a:rPr>
              <a:t>コマンド</a:t>
            </a:r>
            <a:endParaRPr lang="en-US" altLang="ja-JP" sz="2600" dirty="0">
              <a:solidFill>
                <a:srgbClr val="FF0000"/>
              </a:solidFill>
            </a:endParaRPr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4EB611-4979-8D41-E36D-9FA60658F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12740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55B43-4C20-707F-53BD-7B4E8852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⑤セキュリティ（ポイント）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436B00-36A3-A9F9-5B57-AA6DD0D9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セキュリティ</a:t>
            </a:r>
            <a:endParaRPr lang="ja-JP" altLang="ja-JP" dirty="0"/>
          </a:p>
          <a:p>
            <a:pPr lvl="1"/>
            <a:r>
              <a:rPr lang="en-US" altLang="ja-JP" sz="2800" dirty="0"/>
              <a:t>ASW</a:t>
            </a:r>
            <a:r>
              <a:rPr lang="ja-JP" altLang="en-US" sz="2800" dirty="0"/>
              <a:t>では不正な</a:t>
            </a:r>
            <a:r>
              <a:rPr lang="en-US" altLang="ja-JP" sz="2800" dirty="0"/>
              <a:t>DHCP</a:t>
            </a:r>
            <a:r>
              <a:rPr lang="ja-JP" altLang="en-US" sz="2800" dirty="0"/>
              <a:t>サーバーが接続されるのを防ぐ仕様とする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DHCP</a:t>
            </a:r>
            <a:r>
              <a:rPr lang="ja-JP" altLang="en-US" sz="2800" dirty="0">
                <a:solidFill>
                  <a:srgbClr val="FF0000"/>
                </a:solidFill>
              </a:rPr>
              <a:t>スヌーピングで</a:t>
            </a:r>
            <a:r>
              <a:rPr lang="en-US" altLang="ja-JP" sz="2800" dirty="0">
                <a:solidFill>
                  <a:srgbClr val="FF0000"/>
                </a:solidFill>
              </a:rPr>
              <a:t>DHCP</a:t>
            </a:r>
            <a:r>
              <a:rPr lang="ja-JP" altLang="en-US" sz="2800" dirty="0">
                <a:solidFill>
                  <a:srgbClr val="FF0000"/>
                </a:solidFill>
              </a:rPr>
              <a:t>サーバーのアップリンクポートを信頼できるポートに設定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ja-JP" altLang="en-US" sz="2800" dirty="0">
                <a:solidFill>
                  <a:srgbClr val="FF0000"/>
                </a:solidFill>
              </a:rPr>
              <a:t>　</a:t>
            </a:r>
            <a:r>
              <a:rPr lang="ja-JP" altLang="en-US" sz="2800" dirty="0"/>
              <a:t>⇒</a:t>
            </a:r>
            <a:r>
              <a:rPr lang="ja-JP" altLang="en-US" sz="2800" dirty="0">
                <a:solidFill>
                  <a:srgbClr val="FF0000"/>
                </a:solidFill>
              </a:rPr>
              <a:t>オプション</a:t>
            </a:r>
            <a:r>
              <a:rPr lang="en-US" altLang="ja-JP" sz="2800" dirty="0">
                <a:solidFill>
                  <a:srgbClr val="FF0000"/>
                </a:solidFill>
              </a:rPr>
              <a:t>82</a:t>
            </a:r>
            <a:r>
              <a:rPr lang="ja-JP" altLang="en-US" sz="2800" dirty="0">
                <a:solidFill>
                  <a:srgbClr val="FF0000"/>
                </a:solidFill>
              </a:rPr>
              <a:t>を無効に設定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lvl="1"/>
            <a:r>
              <a:rPr lang="ja-JP" altLang="en-US" sz="2800" dirty="0"/>
              <a:t>クライアント</a:t>
            </a:r>
            <a:r>
              <a:rPr lang="en-US" altLang="ja-JP" sz="2800" dirty="0"/>
              <a:t>PC</a:t>
            </a:r>
            <a:r>
              <a:rPr lang="ja-JP" altLang="en-US" sz="2800" dirty="0"/>
              <a:t>が接続されているポートは不正なホストが接続されるのを防ぐ仕様とする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ja-JP" altLang="en-US" sz="2800" dirty="0">
                <a:solidFill>
                  <a:srgbClr val="FF0000"/>
                </a:solidFill>
              </a:rPr>
              <a:t>ポートセキュリティ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lvl="1"/>
            <a:r>
              <a:rPr lang="ja-JP" altLang="en-US" sz="2800" dirty="0"/>
              <a:t>クライアント</a:t>
            </a:r>
            <a:r>
              <a:rPr lang="en-US" altLang="ja-JP" sz="2800" dirty="0"/>
              <a:t>PC</a:t>
            </a:r>
            <a:r>
              <a:rPr lang="ja-JP" altLang="en-US" sz="2800" dirty="0"/>
              <a:t>側に</a:t>
            </a:r>
            <a:r>
              <a:rPr lang="en-US" altLang="ja-JP" sz="2800" dirty="0"/>
              <a:t>BPDU</a:t>
            </a:r>
            <a:r>
              <a:rPr lang="ja-JP" altLang="en-US" sz="2800" dirty="0"/>
              <a:t>が送信されるのを防ぐ仕様とする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BPDU</a:t>
            </a:r>
            <a:r>
              <a:rPr lang="ja-JP" altLang="en-US" sz="2800" dirty="0">
                <a:solidFill>
                  <a:srgbClr val="FF0000"/>
                </a:solidFill>
              </a:rPr>
              <a:t>フィルタ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en-US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457351-6505-BFD2-4827-39EFEC41E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996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CC24F-9963-9BD2-8AE9-4511054B1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⑤セキュリティ（ポイント）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FE825E-CA83-21EB-7847-898E5CDF1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セキュリティ</a:t>
            </a:r>
            <a:endParaRPr lang="ja-JP" altLang="ja-JP" dirty="0"/>
          </a:p>
          <a:p>
            <a:pPr lvl="1"/>
            <a:r>
              <a:rPr lang="ja-JP" altLang="en-US" sz="2800" dirty="0"/>
              <a:t>クライアント</a:t>
            </a:r>
            <a:r>
              <a:rPr lang="en-US" altLang="ja-JP" sz="2800" dirty="0"/>
              <a:t>PC</a:t>
            </a:r>
            <a:r>
              <a:rPr lang="ja-JP" altLang="en-US" sz="2800" dirty="0"/>
              <a:t>から任意の宛先に対して</a:t>
            </a:r>
            <a:r>
              <a:rPr lang="en-US" altLang="ja-JP" sz="2800" dirty="0"/>
              <a:t>Telnet</a:t>
            </a:r>
            <a:r>
              <a:rPr lang="ja-JP" altLang="en-US" sz="2800" dirty="0"/>
              <a:t>セッションを禁止し、その他のトラフィックは全て許可するよう</a:t>
            </a:r>
            <a:r>
              <a:rPr lang="en-US" altLang="ja-JP" sz="2800" dirty="0"/>
              <a:t>DSW</a:t>
            </a:r>
            <a:r>
              <a:rPr lang="ja-JP" altLang="en-US" sz="2800" dirty="0"/>
              <a:t>で制御する（システム部クライアントは全てのアクセスを許可する）</a:t>
            </a:r>
            <a:br>
              <a:rPr lang="en-US" altLang="ja-JP" sz="2800" dirty="0"/>
            </a:br>
            <a:r>
              <a:rPr lang="ja-JP" altLang="en-US" sz="2800" dirty="0"/>
              <a:t>⇒</a:t>
            </a:r>
            <a:r>
              <a:rPr lang="en-US" altLang="ja-JP" sz="2800" dirty="0">
                <a:solidFill>
                  <a:srgbClr val="FF0000"/>
                </a:solidFill>
              </a:rPr>
              <a:t>VACL</a:t>
            </a:r>
            <a:r>
              <a:rPr lang="ja-JP" altLang="en-US" sz="2800" dirty="0">
                <a:solidFill>
                  <a:srgbClr val="FF0000"/>
                </a:solidFill>
              </a:rPr>
              <a:t>でフィルタ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en-US" altLang="ja-JP" sz="28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8BE147-E4AE-328A-6B7C-383A776B2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01584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88C840-E1E9-9ED7-044E-19F8813B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⑥管理</a:t>
            </a:r>
            <a:r>
              <a:rPr lang="en-US" altLang="ja-JP" dirty="0"/>
              <a:t>(</a:t>
            </a:r>
            <a:r>
              <a:rPr lang="ja-JP" altLang="en-US" dirty="0"/>
              <a:t>ポイント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13470E-D914-D00F-C4BF-A0C5BC5CC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管理</a:t>
            </a:r>
            <a:endParaRPr lang="ja-JP" altLang="ja-JP" dirty="0"/>
          </a:p>
          <a:p>
            <a:pPr lvl="2"/>
            <a:r>
              <a:rPr lang="en-US" altLang="ja-JP" sz="2400" dirty="0"/>
              <a:t>NTP</a:t>
            </a:r>
            <a:r>
              <a:rPr lang="ja-JP" altLang="en-US" sz="2400" dirty="0"/>
              <a:t>サーバの指定</a:t>
            </a:r>
            <a:endParaRPr lang="en-US" altLang="ja-JP" sz="2400" dirty="0"/>
          </a:p>
          <a:p>
            <a:pPr marL="914400" lvl="2" indent="0">
              <a:buNone/>
            </a:pPr>
            <a:r>
              <a:rPr lang="ja-JP" altLang="en-US" sz="2400" dirty="0"/>
              <a:t>   ⇒</a:t>
            </a:r>
            <a:r>
              <a:rPr lang="en-US" altLang="ja-JP" sz="2400" dirty="0" err="1">
                <a:solidFill>
                  <a:srgbClr val="FF0000"/>
                </a:solidFill>
              </a:rPr>
              <a:t>ntp</a:t>
            </a:r>
            <a:r>
              <a:rPr lang="en-US" altLang="ja-JP" sz="2400" dirty="0">
                <a:solidFill>
                  <a:srgbClr val="FF0000"/>
                </a:solidFill>
              </a:rPr>
              <a:t> server</a:t>
            </a:r>
            <a:r>
              <a:rPr lang="ja-JP" altLang="en-US" sz="2400" dirty="0">
                <a:solidFill>
                  <a:srgbClr val="FF0000"/>
                </a:solidFill>
              </a:rPr>
              <a:t>の設定</a:t>
            </a:r>
            <a:endParaRPr lang="en-US" altLang="ja-JP" sz="2400" dirty="0">
              <a:solidFill>
                <a:srgbClr val="FF0000"/>
              </a:solidFill>
            </a:endParaRPr>
          </a:p>
          <a:p>
            <a:pPr lvl="2"/>
            <a:r>
              <a:rPr lang="ja-JP" altLang="en-US" sz="2400" dirty="0"/>
              <a:t>タイムスタンプ</a:t>
            </a:r>
            <a:br>
              <a:rPr lang="en-US" altLang="ja-JP" sz="2400" dirty="0"/>
            </a:br>
            <a:r>
              <a:rPr lang="ja-JP" altLang="en-US" sz="2400" dirty="0"/>
              <a:t>⇒</a:t>
            </a:r>
            <a:r>
              <a:rPr lang="en-US" altLang="ja-JP" sz="2400" dirty="0">
                <a:solidFill>
                  <a:srgbClr val="FF0000"/>
                </a:solidFill>
              </a:rPr>
              <a:t>datetime </a:t>
            </a:r>
            <a:r>
              <a:rPr lang="en-US" altLang="ja-JP" sz="2400" dirty="0" err="1">
                <a:solidFill>
                  <a:srgbClr val="FF0000"/>
                </a:solidFill>
              </a:rPr>
              <a:t>localtime</a:t>
            </a:r>
            <a:r>
              <a:rPr lang="ja-JP" altLang="en-US" sz="2400" dirty="0">
                <a:solidFill>
                  <a:srgbClr val="FF0000"/>
                </a:solidFill>
              </a:rPr>
              <a:t>の設定</a:t>
            </a:r>
            <a:endParaRPr lang="en-US" altLang="ja-JP" sz="2400" dirty="0">
              <a:solidFill>
                <a:srgbClr val="FF0000"/>
              </a:solidFill>
            </a:endParaRPr>
          </a:p>
          <a:p>
            <a:pPr lvl="2"/>
            <a:r>
              <a:rPr lang="en-US" altLang="ja-JP" sz="2400" dirty="0"/>
              <a:t>SNMP</a:t>
            </a:r>
            <a:r>
              <a:rPr lang="ja-JP" altLang="en-US" sz="2400" dirty="0"/>
              <a:t>（コミュニティ、</a:t>
            </a:r>
            <a:r>
              <a:rPr lang="en-US" altLang="ja-JP" sz="2400" dirty="0"/>
              <a:t>Trap</a:t>
            </a:r>
            <a:r>
              <a:rPr lang="ja-JP" altLang="en-US" sz="2400" dirty="0"/>
              <a:t>）</a:t>
            </a:r>
            <a:br>
              <a:rPr lang="en-US" altLang="ja-JP" sz="2400" dirty="0"/>
            </a:br>
            <a:r>
              <a:rPr lang="ja-JP" altLang="en-US" sz="2400" dirty="0"/>
              <a:t>⇒</a:t>
            </a:r>
            <a:r>
              <a:rPr lang="en-US" altLang="ja-JP" sz="2400" dirty="0" err="1">
                <a:solidFill>
                  <a:srgbClr val="FF0000"/>
                </a:solidFill>
              </a:rPr>
              <a:t>community,source</a:t>
            </a:r>
            <a:r>
              <a:rPr lang="en-US" altLang="ja-JP" sz="2400" dirty="0">
                <a:solidFill>
                  <a:srgbClr val="FF0000"/>
                </a:solidFill>
              </a:rPr>
              <a:t>-interface</a:t>
            </a:r>
            <a:r>
              <a:rPr lang="ja-JP" altLang="en-US" sz="2400" dirty="0">
                <a:solidFill>
                  <a:srgbClr val="FF0000"/>
                </a:solidFill>
              </a:rPr>
              <a:t>の設定</a:t>
            </a:r>
            <a:endParaRPr lang="en-US" altLang="ja-JP" sz="2400" dirty="0"/>
          </a:p>
          <a:p>
            <a:pPr lvl="2"/>
            <a:r>
              <a:rPr lang="en-US" altLang="ja-JP" sz="2400" dirty="0"/>
              <a:t>Syslog</a:t>
            </a:r>
          </a:p>
          <a:p>
            <a:pPr marL="914400" lvl="2" indent="0">
              <a:buNone/>
            </a:pPr>
            <a:r>
              <a:rPr lang="ja-JP" altLang="en-US" sz="2400" dirty="0"/>
              <a:t>  ⇒</a:t>
            </a:r>
            <a:r>
              <a:rPr lang="en-US" altLang="ja-JP" sz="2400" dirty="0">
                <a:solidFill>
                  <a:srgbClr val="FF0000"/>
                </a:solidFill>
              </a:rPr>
              <a:t>source-interface </a:t>
            </a:r>
            <a:r>
              <a:rPr lang="ja-JP" altLang="en-US" sz="2400" dirty="0">
                <a:solidFill>
                  <a:srgbClr val="FF0000"/>
                </a:solidFill>
              </a:rPr>
              <a:t>の設定</a:t>
            </a:r>
            <a:endParaRPr lang="en-US" altLang="ja-JP" sz="2400" dirty="0"/>
          </a:p>
          <a:p>
            <a:endParaRPr lang="en-US" altLang="ja-JP" kern="0" dirty="0"/>
          </a:p>
          <a:p>
            <a:endParaRPr lang="en-US" altLang="ja-JP" kern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6376A5-46B8-4A4A-D4E4-167AC0F5D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38</a:t>
            </a:fld>
            <a:endParaRPr lang="en-US" altLang="ja-JP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574597-7583-B8F0-6A38-AE9D7CA7C45D}"/>
              </a:ext>
            </a:extLst>
          </p:cNvPr>
          <p:cNvSpPr/>
          <p:nvPr/>
        </p:nvSpPr>
        <p:spPr>
          <a:xfrm>
            <a:off x="609600" y="4652010"/>
            <a:ext cx="7924800" cy="17397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7777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SNMP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や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syslog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の情報は、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10.1.100.1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にある監視サーバー（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Linux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）の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/var/log/messages</a:t>
            </a:r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に蓄積されます。</a:t>
            </a:r>
            <a:endParaRPr kumimoji="1" lang="en-US" altLang="ja-JP" sz="2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sz="2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監視サーバーで端末を起動して、下記などのコマンドで確認できます。</a:t>
            </a:r>
            <a:endParaRPr kumimoji="1" lang="en-US" altLang="ja-JP" sz="2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tail –f /</a:t>
            </a:r>
            <a:r>
              <a:rPr kumimoji="1" lang="en-US" altLang="ja-JP" sz="20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var</a:t>
            </a:r>
            <a:r>
              <a:rPr kumimoji="1" lang="en-US" altLang="ja-JP" sz="2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/log/messages</a:t>
            </a:r>
          </a:p>
        </p:txBody>
      </p:sp>
    </p:spTree>
    <p:extLst>
      <p:ext uri="{BB962C8B-B14F-4D97-AF65-F5344CB8AC3E}">
        <p14:creationId xmlns:p14="http://schemas.microsoft.com/office/powerpoint/2010/main" val="3101679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00125-030E-E1DA-09F0-D55204CF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⑦ルーティング（</a:t>
            </a:r>
            <a:r>
              <a:rPr lang="en-US" altLang="ja-JP" dirty="0"/>
              <a:t>EGP</a:t>
            </a:r>
            <a:r>
              <a:rPr lang="ja-JP" altLang="en-US" dirty="0"/>
              <a:t>）</a:t>
            </a:r>
            <a:r>
              <a:rPr lang="en-US" altLang="ja-JP" dirty="0"/>
              <a:t>(</a:t>
            </a:r>
            <a:r>
              <a:rPr lang="ja-JP" altLang="en-US" dirty="0"/>
              <a:t>ポイント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FA6F00-280D-1033-4AEC-0A840B63A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u="sng" dirty="0"/>
              <a:t>ルーティング（</a:t>
            </a:r>
            <a:r>
              <a:rPr lang="en-US" altLang="ja-JP" b="1" u="sng" dirty="0"/>
              <a:t>EGP</a:t>
            </a:r>
            <a:r>
              <a:rPr lang="ja-JP" altLang="en-US" b="1" u="sng" dirty="0"/>
              <a:t>）</a:t>
            </a:r>
            <a:endParaRPr lang="ja-JP" altLang="ja-JP" dirty="0"/>
          </a:p>
          <a:p>
            <a:pPr>
              <a:buFont typeface="Wingdings" pitchFamily="2" charset="2"/>
              <a:buChar char="l"/>
            </a:pPr>
            <a:r>
              <a:rPr lang="en-US" altLang="ja-JP" dirty="0"/>
              <a:t>R1</a:t>
            </a:r>
            <a:r>
              <a:rPr lang="ja-JP" altLang="en-US" dirty="0"/>
              <a:t>、</a:t>
            </a:r>
            <a:r>
              <a:rPr lang="en-US" altLang="ja-JP" dirty="0"/>
              <a:t>R2</a:t>
            </a:r>
            <a:r>
              <a:rPr lang="ja-JP" altLang="en-US" dirty="0"/>
              <a:t>は</a:t>
            </a:r>
            <a:r>
              <a:rPr lang="en-US" altLang="ja-JP" dirty="0"/>
              <a:t>BGP</a:t>
            </a:r>
            <a:r>
              <a:rPr lang="ja-JP" altLang="en-US" dirty="0"/>
              <a:t>を使用して</a:t>
            </a:r>
            <a:r>
              <a:rPr lang="en-US" altLang="ja-JP" dirty="0"/>
              <a:t>IP-VPN</a:t>
            </a:r>
            <a:r>
              <a:rPr lang="ja-JP" altLang="en-US" dirty="0"/>
              <a:t>網と接続する</a:t>
            </a:r>
            <a:br>
              <a:rPr lang="en-US" altLang="ja-JP" dirty="0"/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EBGP</a:t>
            </a:r>
            <a:r>
              <a:rPr lang="ja-JP" altLang="en-US" dirty="0">
                <a:solidFill>
                  <a:srgbClr val="FF0000"/>
                </a:solidFill>
              </a:rPr>
              <a:t>ネイバー設定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拠点内はループバックインターフェースを使用し、フルメッシュで</a:t>
            </a:r>
            <a:r>
              <a:rPr lang="en-US" altLang="ja-JP" sz="2400" dirty="0"/>
              <a:t>IBGP</a:t>
            </a:r>
            <a:r>
              <a:rPr lang="ja-JP" altLang="en-US" sz="2400" dirty="0"/>
              <a:t>ネイバーを接続する（拠点内は認証不要）</a:t>
            </a:r>
            <a:endParaRPr lang="en-US" altLang="ja-JP" sz="2400" dirty="0"/>
          </a:p>
          <a:p>
            <a:pPr lvl="1"/>
            <a:r>
              <a:rPr lang="ja-JP" altLang="en-US" sz="2000" dirty="0"/>
              <a:t>ただし、</a:t>
            </a:r>
            <a:r>
              <a:rPr lang="en-US" altLang="ja-JP" sz="2000" dirty="0"/>
              <a:t>DSW</a:t>
            </a:r>
            <a:r>
              <a:rPr lang="ja-JP" altLang="en-US" sz="2000" dirty="0"/>
              <a:t>や</a:t>
            </a:r>
            <a:r>
              <a:rPr lang="en-US" altLang="ja-JP" sz="2000" dirty="0"/>
              <a:t>CSW</a:t>
            </a:r>
            <a:r>
              <a:rPr lang="ja-JP" altLang="en-US" sz="2000" dirty="0"/>
              <a:t>の</a:t>
            </a:r>
            <a:r>
              <a:rPr lang="en-US" altLang="ja-JP" sz="2000" dirty="0"/>
              <a:t>BGP</a:t>
            </a:r>
            <a:r>
              <a:rPr lang="ja-JP" altLang="en-US" sz="2000" dirty="0"/>
              <a:t>テーブルに</a:t>
            </a:r>
            <a:r>
              <a:rPr lang="en-US" altLang="ja-JP" sz="2000" dirty="0"/>
              <a:t>192.168</a:t>
            </a:r>
            <a:r>
              <a:rPr lang="ja-JP" altLang="en-US" sz="2000" dirty="0"/>
              <a:t>のルートが存在しないこと</a:t>
            </a:r>
            <a:br>
              <a:rPr lang="en-US" altLang="ja-JP" dirty="0"/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IBGP</a:t>
            </a:r>
            <a:r>
              <a:rPr lang="ja-JP" altLang="en-US" dirty="0">
                <a:solidFill>
                  <a:srgbClr val="FF0000"/>
                </a:solidFill>
              </a:rPr>
              <a:t>ネイバーの設定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IBGP</a:t>
            </a:r>
            <a:r>
              <a:rPr lang="ja-JP" altLang="en-US" dirty="0">
                <a:solidFill>
                  <a:srgbClr val="FF0000"/>
                </a:solidFill>
              </a:rPr>
              <a:t>ネイバー設定時のポイントは？</a:t>
            </a:r>
            <a:endParaRPr lang="en-US" altLang="ja-JP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l"/>
            </a:pPr>
            <a:r>
              <a:rPr lang="en-US" altLang="ja-JP" dirty="0"/>
              <a:t>IP-VPN</a:t>
            </a:r>
            <a:r>
              <a:rPr lang="ja-JP" altLang="en-US" dirty="0"/>
              <a:t>網へは集約ルート</a:t>
            </a:r>
            <a:r>
              <a:rPr lang="en-US" altLang="ja-JP" dirty="0"/>
              <a:t>10.1.0.0/16</a:t>
            </a:r>
            <a:r>
              <a:rPr lang="ja-JP" altLang="en-US" dirty="0"/>
              <a:t>をアドバタイズする</a:t>
            </a:r>
            <a:br>
              <a:rPr lang="en-US" altLang="ja-JP" dirty="0"/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network</a:t>
            </a:r>
            <a:r>
              <a:rPr lang="ja-JP" altLang="en-US" dirty="0">
                <a:solidFill>
                  <a:srgbClr val="FF0000"/>
                </a:solidFill>
              </a:rPr>
              <a:t>コマンド使用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10921-35F6-F60A-280A-241F422BE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39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33434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B98D4-4094-A1B1-87E7-9A419B43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⑦ルーティング（</a:t>
            </a:r>
            <a:r>
              <a:rPr lang="en-US" altLang="ja-JP" dirty="0"/>
              <a:t>EGP</a:t>
            </a:r>
            <a:r>
              <a:rPr lang="ja-JP" altLang="en-US" dirty="0"/>
              <a:t>）</a:t>
            </a:r>
            <a:r>
              <a:rPr lang="en-US" altLang="ja-JP" dirty="0"/>
              <a:t>(</a:t>
            </a:r>
            <a:r>
              <a:rPr lang="ja-JP" altLang="en-US" dirty="0"/>
              <a:t>ポイント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42DFEC-B5FC-A346-1227-4CCBDC8A1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u="sng" dirty="0"/>
              <a:t>ルーティング（</a:t>
            </a:r>
            <a:r>
              <a:rPr lang="en-US" altLang="ja-JP" b="1" u="sng" dirty="0"/>
              <a:t>EGP</a:t>
            </a:r>
            <a:r>
              <a:rPr lang="ja-JP" altLang="en-US" b="1" u="sng" dirty="0"/>
              <a:t>）</a:t>
            </a:r>
            <a:endParaRPr lang="ja-JP" altLang="ja-JP" dirty="0"/>
          </a:p>
          <a:p>
            <a:pPr>
              <a:buFont typeface="Wingdings" pitchFamily="2" charset="2"/>
              <a:buChar char="l"/>
            </a:pPr>
            <a:r>
              <a:rPr lang="en-US" altLang="ja-JP" dirty="0"/>
              <a:t>10.2.0.0/16(</a:t>
            </a:r>
            <a:r>
              <a:rPr lang="ja-JP" altLang="en-US" dirty="0"/>
              <a:t>拠点</a:t>
            </a:r>
            <a:r>
              <a:rPr lang="en-US" altLang="ja-JP" dirty="0"/>
              <a:t>2)</a:t>
            </a:r>
            <a:r>
              <a:rPr lang="ja-JP" altLang="en-US" dirty="0"/>
              <a:t>宛のトラフィックは</a:t>
            </a:r>
            <a:r>
              <a:rPr lang="en-US" altLang="ja-JP" dirty="0"/>
              <a:t>R2</a:t>
            </a:r>
            <a:r>
              <a:rPr lang="ja-JP" altLang="en-US" dirty="0"/>
              <a:t>を経由するように調整し、</a:t>
            </a:r>
            <a:r>
              <a:rPr lang="en-US" altLang="ja-JP" dirty="0"/>
              <a:t>10.3.0.0/16(</a:t>
            </a:r>
            <a:r>
              <a:rPr lang="ja-JP" altLang="en-US" dirty="0"/>
              <a:t>拠点</a:t>
            </a:r>
            <a:r>
              <a:rPr lang="en-US" altLang="ja-JP" dirty="0"/>
              <a:t>3)</a:t>
            </a:r>
            <a:r>
              <a:rPr lang="ja-JP" altLang="en-US" dirty="0"/>
              <a:t>宛のトラフィックは</a:t>
            </a:r>
            <a:r>
              <a:rPr lang="en-US" altLang="ja-JP" dirty="0"/>
              <a:t>R1</a:t>
            </a:r>
            <a:r>
              <a:rPr lang="ja-JP" altLang="en-US" dirty="0"/>
              <a:t>を経由するように調整する</a:t>
            </a:r>
            <a:br>
              <a:rPr lang="en-US" altLang="ja-JP" dirty="0"/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LP</a:t>
            </a:r>
            <a:r>
              <a:rPr lang="ja-JP" altLang="en-US" dirty="0">
                <a:solidFill>
                  <a:srgbClr val="FF0000"/>
                </a:solidFill>
              </a:rPr>
              <a:t>で調整</a:t>
            </a:r>
            <a:endParaRPr lang="en-US" altLang="ja-JP" dirty="0"/>
          </a:p>
          <a:p>
            <a:pPr>
              <a:buFont typeface="Wingdings" pitchFamily="2" charset="2"/>
              <a:buChar char="l"/>
            </a:pPr>
            <a:r>
              <a:rPr lang="ja-JP" altLang="en-US" dirty="0"/>
              <a:t>キャリア側からの戻りのルートは</a:t>
            </a:r>
            <a:r>
              <a:rPr lang="en-US" altLang="ja-JP" dirty="0"/>
              <a:t>R1</a:t>
            </a:r>
            <a:r>
              <a:rPr lang="ja-JP" altLang="en-US" dirty="0"/>
              <a:t>を使用するように調整する</a:t>
            </a:r>
            <a:br>
              <a:rPr lang="en-US" altLang="ja-JP" dirty="0"/>
            </a:br>
            <a:r>
              <a:rPr lang="ja-JP" altLang="en-US" dirty="0"/>
              <a:t>⇒</a:t>
            </a:r>
            <a:r>
              <a:rPr lang="en-US" altLang="ja-JP" dirty="0">
                <a:solidFill>
                  <a:srgbClr val="FF0000"/>
                </a:solidFill>
              </a:rPr>
              <a:t>MED</a:t>
            </a:r>
            <a:r>
              <a:rPr lang="ja-JP" altLang="en-US" dirty="0">
                <a:solidFill>
                  <a:srgbClr val="FF0000"/>
                </a:solidFill>
              </a:rPr>
              <a:t>調整</a:t>
            </a:r>
            <a:endParaRPr lang="en-US" altLang="ja-JP" kern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15AD22-8284-9F71-1DBF-D82682EBB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7FD5BC-56C6-4791-9AE8-E48ACCBD4B05}" type="slidenum">
              <a:rPr lang="ja-JP" altLang="en-US" smtClean="0"/>
              <a:pPr>
                <a:defRPr/>
              </a:pPr>
              <a:t>40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26760380"/>
      </p:ext>
    </p:extLst>
  </p:cSld>
  <p:clrMapOvr>
    <a:masterClrMapping/>
  </p:clrMapOvr>
</p:sld>
</file>

<file path=ppt/theme/theme1.xml><?xml version="1.0" encoding="utf-8"?>
<a:theme xmlns:a="http://schemas.openxmlformats.org/drawingml/2006/main" name="Tranocate">
  <a:themeElements>
    <a:clrScheme name="Tranocate">
      <a:dk1>
        <a:sysClr val="windowText" lastClr="000000"/>
      </a:dk1>
      <a:lt1>
        <a:sysClr val="window" lastClr="FFFFFF"/>
      </a:lt1>
      <a:dk2>
        <a:srgbClr val="8E9091"/>
      </a:dk2>
      <a:lt2>
        <a:srgbClr val="E7E6E6"/>
      </a:lt2>
      <a:accent1>
        <a:srgbClr val="E94B22"/>
      </a:accent1>
      <a:accent2>
        <a:srgbClr val="5B9BD5"/>
      </a:accent2>
      <a:accent3>
        <a:srgbClr val="77777A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rgbClr val="77777A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defRPr kumimoji="1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3"/>
          </a:solidFill>
          <a:headEnd type="none" w="med" len="med"/>
          <a:tailEnd type="none"/>
        </a:ln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dirty="0" err="1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2B01ABB91EE3D41940619B59B4B4A2D" ma:contentTypeVersion="11" ma:contentTypeDescription="新しいドキュメントを作成します。" ma:contentTypeScope="" ma:versionID="7a7ffa8ca845fdea81887fc40db3e203">
  <xsd:schema xmlns:xsd="http://www.w3.org/2001/XMLSchema" xmlns:xs="http://www.w3.org/2001/XMLSchema" xmlns:p="http://schemas.microsoft.com/office/2006/metadata/properties" xmlns:ns2="4c4ba164-a089-4595-b4e2-6646eada4d48" xmlns:ns3="2dcf463b-faa6-4b3c-9b9c-340f58fa5170" targetNamespace="http://schemas.microsoft.com/office/2006/metadata/properties" ma:root="true" ma:fieldsID="4a5db9ab46f61693e24d6b22f40bedee" ns2:_="" ns3:_="">
    <xsd:import namespace="4c4ba164-a089-4595-b4e2-6646eada4d48"/>
    <xsd:import namespace="2dcf463b-faa6-4b3c-9b9c-340f58fa51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ba164-a089-4595-b4e2-6646eada4d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62f84205-ea7f-471c-b738-b908383441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cf463b-faa6-4b3c-9b9c-340f58fa517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68eed8c-f6f6-48de-95a2-aa57874d27c3}" ma:internalName="TaxCatchAll" ma:showField="CatchAllData" ma:web="2dcf463b-faa6-4b3c-9b9c-340f58fa51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4ba164-a089-4595-b4e2-6646eada4d48">
      <Terms xmlns="http://schemas.microsoft.com/office/infopath/2007/PartnerControls"/>
    </lcf76f155ced4ddcb4097134ff3c332f>
    <TaxCatchAll xmlns="2dcf463b-faa6-4b3c-9b9c-340f58fa5170" xsi:nil="true"/>
  </documentManagement>
</p:properties>
</file>

<file path=customXml/itemProps1.xml><?xml version="1.0" encoding="utf-8"?>
<ds:datastoreItem xmlns:ds="http://schemas.openxmlformats.org/officeDocument/2006/customXml" ds:itemID="{E21DE631-DE3C-4C55-84B8-BA4D86E2F1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4ba164-a089-4595-b4e2-6646eada4d48"/>
    <ds:schemaRef ds:uri="2dcf463b-faa6-4b3c-9b9c-340f58fa51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23ACC6-E4E5-4093-8523-B8BC66668F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2925A8-FF0C-49F1-9E82-FEE27F37357B}">
  <ds:schemaRefs>
    <ds:schemaRef ds:uri="0B5D04A9-6E12-4381-8D01-02D5A729FCAA"/>
    <ds:schemaRef ds:uri="004417df-9fd2-4ae7-8652-2e1db1d74be8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0b5d04a9-6e12-4381-8d01-02d5a729fcaa"/>
    <ds:schemaRef ds:uri="http://www.w3.org/XML/1998/namespace"/>
    <ds:schemaRef ds:uri="http://purl.org/dc/dcmitype/"/>
    <ds:schemaRef ds:uri="4c4ba164-a089-4595-b4e2-6646eada4d48"/>
    <ds:schemaRef ds:uri="2dcf463b-faa6-4b3c-9b9c-340f58fa51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2200</Words>
  <Application>Microsoft Office PowerPoint</Application>
  <PresentationFormat>画面に合わせる (4:3)</PresentationFormat>
  <Paragraphs>301</Paragraphs>
  <Slides>40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7" baseType="lpstr">
      <vt:lpstr>HGPｺﾞｼｯｸE</vt:lpstr>
      <vt:lpstr>Meiryo UI</vt:lpstr>
      <vt:lpstr>メイリオ</vt:lpstr>
      <vt:lpstr>游ゴシック</vt:lpstr>
      <vt:lpstr>Arial</vt:lpstr>
      <vt:lpstr>Wingdings</vt:lpstr>
      <vt:lpstr>Tranocate</vt:lpstr>
      <vt:lpstr>③ネットワークの構築</vt:lpstr>
      <vt:lpstr>監視サーバー（Linux）の操作</vt:lpstr>
      <vt:lpstr>監視サーバー（Linux）の操作　（続き）</vt:lpstr>
      <vt:lpstr>①物理配線</vt:lpstr>
      <vt:lpstr>以降の進め方</vt:lpstr>
      <vt:lpstr>相互チェック</vt:lpstr>
      <vt:lpstr>PowerPoint プレゼンテーション</vt:lpstr>
      <vt:lpstr>②初期設定、L2項目</vt:lpstr>
      <vt:lpstr>②初期設定（設問）</vt:lpstr>
      <vt:lpstr>②L2項目（設問）</vt:lpstr>
      <vt:lpstr>③L3項目</vt:lpstr>
      <vt:lpstr>③L3項目（設問）</vt:lpstr>
      <vt:lpstr>④IGPルーティング</vt:lpstr>
      <vt:lpstr>④ルーティング（IGP）（設問）</vt:lpstr>
      <vt:lpstr>⑤セキュリティ</vt:lpstr>
      <vt:lpstr>⑤セキュリティ（設問）</vt:lpstr>
      <vt:lpstr>⑥管理</vt:lpstr>
      <vt:lpstr>⑥管理（設問）</vt:lpstr>
      <vt:lpstr>⑦ EGPルーティング</vt:lpstr>
      <vt:lpstr>⑦EGPルーティング（設問）</vt:lpstr>
      <vt:lpstr>tclスクリプトを使用した疎通確認（1/4）</vt:lpstr>
      <vt:lpstr>tclスクリプトを使用した疎通確認（2/4）</vt:lpstr>
      <vt:lpstr>tclスクリプトを使用した疎通確認（3/4）</vt:lpstr>
      <vt:lpstr>tclスクリプトを使用した疎通確認（4/4）</vt:lpstr>
      <vt:lpstr>ネットワークの構築ポイント（ヒント）</vt:lpstr>
      <vt:lpstr>②初期設定、L2項目（ポイント）</vt:lpstr>
      <vt:lpstr>②初期設定、L2項目（ポイント）</vt:lpstr>
      <vt:lpstr>②初期設定、L2項目（ポイント）</vt:lpstr>
      <vt:lpstr>②初期設定、L2項目（ポイント）</vt:lpstr>
      <vt:lpstr>③L3項目（ポイント）</vt:lpstr>
      <vt:lpstr>③L3項目（ポイント）</vt:lpstr>
      <vt:lpstr>③L3項目（ポイント）</vt:lpstr>
      <vt:lpstr>③L3項目（ポイント）</vt:lpstr>
      <vt:lpstr>④ルーティング（IGP）（ポイント）</vt:lpstr>
      <vt:lpstr>④ルーティング（IGP）（ポイント）</vt:lpstr>
      <vt:lpstr>⑤セキュリティ（ポイント）</vt:lpstr>
      <vt:lpstr>⑤セキュリティ（ポイント）</vt:lpstr>
      <vt:lpstr>⑥管理(ポイント)</vt:lpstr>
      <vt:lpstr>⑦ルーティング（EGP）(ポイント)</vt:lpstr>
      <vt:lpstr>⑦ルーティング（EGP）(ポイント)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TRAINOCATE_テンプレート_提案書用_v1-1</dc:title>
  <dc:creator/>
  <cp:lastModifiedBy/>
  <cp:revision>1</cp:revision>
  <dcterms:created xsi:type="dcterms:W3CDTF">2017-05-26T09:30:54Z</dcterms:created>
  <dcterms:modified xsi:type="dcterms:W3CDTF">2025-07-25T07:48:31Z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def32fc8-4688-4146-8b86-1b47ab468ac3</vt:lpwstr>
  </property>
  <property fmtid="{D5CDD505-2E9C-101B-9397-08002B2CF9AE}" pid="3" name="ContentTypeId">
    <vt:lpwstr>0x01010052B01ABB91EE3D41940619B59B4B4A2D</vt:lpwstr>
  </property>
  <property fmtid="{D5CDD505-2E9C-101B-9397-08002B2CF9AE}" pid="4" name="MediaServiceImageTags">
    <vt:lpwstr/>
  </property>
</Properties>
</file>